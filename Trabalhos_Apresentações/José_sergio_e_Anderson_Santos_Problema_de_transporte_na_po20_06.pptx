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5" r:id="rId5"/>
    <p:sldId id="297" r:id="rId6"/>
    <p:sldId id="277" r:id="rId7"/>
    <p:sldId id="296" r:id="rId8"/>
    <p:sldId id="298" r:id="rId9"/>
    <p:sldId id="280" r:id="rId10"/>
    <p:sldId id="281" r:id="rId11"/>
    <p:sldId id="282" r:id="rId12"/>
    <p:sldId id="285" r:id="rId13"/>
    <p:sldId id="287" r:id="rId14"/>
    <p:sldId id="279" r:id="rId15"/>
    <p:sldId id="288" r:id="rId16"/>
    <p:sldId id="290" r:id="rId17"/>
    <p:sldId id="291" r:id="rId18"/>
    <p:sldId id="294" r:id="rId19"/>
    <p:sldId id="299" r:id="rId20"/>
    <p:sldId id="292" r:id="rId21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3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3d1" qsCatId="3D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sz="2400" b="1" noProof="1">
              <a:solidFill>
                <a:schemeClr val="bg1"/>
              </a:solidFill>
            </a:rPr>
            <a:t>Definição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É um tipo especial de problema de programação linear </a:t>
          </a:r>
          <a:r>
            <a:rPr lang="pt-BR" sz="2000" b="1" cap="none" noProof="1">
              <a:solidFill>
                <a:schemeClr val="bg1"/>
              </a:solidFill>
            </a:rPr>
            <a:t>(PPL) </a:t>
          </a:r>
          <a:r>
            <a:rPr lang="pt-BR" sz="2000" cap="none" noProof="1">
              <a:solidFill>
                <a:schemeClr val="bg1"/>
              </a:solidFill>
            </a:rPr>
            <a:t>que busca minimizar o custo de distribuição de bens de um conjunto de origens para destinos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pt-BR" sz="1600" noProof="1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pt-BR" sz="1600" noProof="1"/>
        </a:p>
      </dgm:t>
    </dgm:pt>
    <dgm:pt modelId="{49225C73-1633-42F1-AB3B-7CB183E5F8B8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sz="2400" b="1" noProof="1">
              <a:solidFill>
                <a:schemeClr val="bg1"/>
              </a:solidFill>
            </a:rPr>
            <a:t>Hitchcock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Historicamente conhecido como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Problema de hitchcock (1941), foca no fluxo eficiente em redes de logística e suprimentos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pt-BR" sz="1600" noProof="1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pt-BR" sz="1600" noProof="1"/>
        </a:p>
      </dgm:t>
    </dgm:pt>
    <dgm:pt modelId="{1C383F32-22E8-4F62-A3E0-BDC3D5F48992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sz="2400" b="1" noProof="1">
              <a:solidFill>
                <a:schemeClr val="bg1"/>
              </a:solidFill>
            </a:rPr>
            <a:t>Objetivo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Determinar a quantidade ótima a ser enviada de cada origem para cada destino, respeitando limites de oferta e atendendo à demanda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pt-BR" sz="1600" noProof="1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pt-BR" sz="1600" noProof="1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 custLinFactNeighborX="2074" custLinFactNeighborY="-17694"/>
      <dgm:spPr>
        <a:gradFill flip="none" rotWithShape="0">
          <a:gsLst>
            <a:gs pos="40000">
              <a:srgbClr val="002060"/>
            </a:gs>
            <a:gs pos="88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  <a:tileRect/>
        </a:gradFill>
      </dgm:spPr>
    </dgm:pt>
    <dgm:pt modelId="{7C175B98-93F4-4D7C-BB95-1514AB879CD5}" type="pres">
      <dgm:prSet presAssocID="{40FC4FFE-8987-4A26-B7F4-8A516F18ADAE}" presName="iconRect" presStyleLbl="node1" presStyleIdx="0" presStyleCnt="3" custLinFactNeighborX="3614" custLinFactNeighborY="-3084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m única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 custScaleX="99021" custScaleY="84809" custLinFactNeighborX="-185" custLinFactNeighborY="-5149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 custLinFactNeighborX="-3732" custLinFactNeighborY="-10577"/>
      <dgm:spPr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</dgm:pt>
    <dgm:pt modelId="{DB4CA7C4-FCA1-4127-B20A-2A5C031A3CF4}" type="pres">
      <dgm:prSet presAssocID="{49225C73-1633-42F1-AB3B-7CB183E5F8B8}" presName="iconRect" presStyleLbl="node1" presStyleIdx="1" presStyleCnt="3" custLinFactNeighborX="-2986" custLinFactNeighborY="-15371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 custScaleX="92474" custScaleY="123963" custLinFactNeighborY="-20852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 custLinFactNeighborX="-415" custLinFactNeighborY="-8447"/>
      <dgm:spPr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</dgm:pt>
    <dgm:pt modelId="{39509775-983E-4110-B989-EE2CD6514BE0}" type="pres">
      <dgm:prSet presAssocID="{1C383F32-22E8-4F62-A3E0-BDC3D5F48992}" presName="iconRect" presStyleLbl="node1" presStyleIdx="2" presStyleCnt="3" custLinFactNeighborX="-723" custLinFactNeighborY="-1471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 custScaleX="86275" custScaleY="114009" custLinFactNeighborX="759" custLinFactNeighborY="-25737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821C21-2509-4E11-BC51-7BF99FD99B81}" type="doc">
      <dgm:prSet loTypeId="urn:microsoft.com/office/officeart/2005/8/layout/vList3" loCatId="picture" qsTypeId="urn:microsoft.com/office/officeart/2005/8/quickstyle/3d1" qsCatId="3D" csTypeId="urn:microsoft.com/office/officeart/2005/8/colors/accent1_2" csCatId="accent1" phldr="1"/>
      <dgm:spPr/>
    </dgm:pt>
    <dgm:pt modelId="{D594CE5A-E184-4E0C-B656-A2A3A176B696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Origens (m) </a:t>
          </a:r>
          <a:r>
            <a:rPr lang="pt-BR" sz="1600" b="0" dirty="0"/>
            <a:t>“A oferta”: Fábricas ou centros de distribuição que possuem uma quantidade limite de produtos disponíveis para envio.</a:t>
          </a:r>
        </a:p>
      </dgm:t>
    </dgm:pt>
    <dgm:pt modelId="{29427177-216C-4C84-8D6F-364A77AAEB72}" type="parTrans" cxnId="{AF613023-BFCA-4F05-B438-AEC0527BD20E}">
      <dgm:prSet/>
      <dgm:spPr/>
      <dgm:t>
        <a:bodyPr/>
        <a:lstStyle/>
        <a:p>
          <a:endParaRPr lang="pt-BR"/>
        </a:p>
      </dgm:t>
    </dgm:pt>
    <dgm:pt modelId="{F7E2D3EC-4E2A-42B9-BC7C-67D7E6AA1AD7}" type="sibTrans" cxnId="{AF613023-BFCA-4F05-B438-AEC0527BD20E}">
      <dgm:prSet/>
      <dgm:spPr/>
      <dgm:t>
        <a:bodyPr/>
        <a:lstStyle/>
        <a:p>
          <a:endParaRPr lang="pt-BR"/>
        </a:p>
      </dgm:t>
    </dgm:pt>
    <dgm:pt modelId="{3E57AB56-2AA5-4E2F-A1C8-AC791C2DE47F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Destinos (n) </a:t>
          </a:r>
          <a:r>
            <a:rPr lang="pt-BR" sz="1600" b="0" dirty="0"/>
            <a:t>“A demanda”: lojas ou mercados que precisam receber uma quantidade específica da mercadoria</a:t>
          </a:r>
        </a:p>
      </dgm:t>
    </dgm:pt>
    <dgm:pt modelId="{B31ADC7B-8F74-4F66-AEFA-E2D404DE1F41}" type="parTrans" cxnId="{44340A09-3BFA-46D0-BF0A-2B9377B0BB84}">
      <dgm:prSet/>
      <dgm:spPr/>
      <dgm:t>
        <a:bodyPr/>
        <a:lstStyle/>
        <a:p>
          <a:endParaRPr lang="pt-BR"/>
        </a:p>
      </dgm:t>
    </dgm:pt>
    <dgm:pt modelId="{B3CB88D5-E493-4A6A-BFF7-3F6EAC8BDE4D}" type="sibTrans" cxnId="{44340A09-3BFA-46D0-BF0A-2B9377B0BB84}">
      <dgm:prSet/>
      <dgm:spPr/>
      <dgm:t>
        <a:bodyPr/>
        <a:lstStyle/>
        <a:p>
          <a:endParaRPr lang="pt-BR"/>
        </a:p>
      </dgm:t>
    </dgm:pt>
    <dgm:pt modelId="{B3CA2853-4E5C-4380-935A-A1C2E86E7F75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Rotas e os Custos: </a:t>
          </a:r>
          <a:r>
            <a:rPr lang="pt-BR" sz="1600" dirty="0"/>
            <a:t>Os caminhos possíveis que ligam as origens aos destinos. Cada rota tem um custo unitário, que pode ser o valor do frete, a distância ou o tempo gasto</a:t>
          </a:r>
          <a:r>
            <a:rPr lang="pt-BR" sz="1600" b="1" dirty="0"/>
            <a:t>.</a:t>
          </a:r>
          <a:endParaRPr lang="pt-BR" sz="2800" i="1" dirty="0"/>
        </a:p>
      </dgm:t>
    </dgm:pt>
    <dgm:pt modelId="{722D8C30-2BAC-4F04-B33F-4EC820840A90}" type="parTrans" cxnId="{DEEA257B-227B-4791-9946-7A8A4EE90EBB}">
      <dgm:prSet/>
      <dgm:spPr/>
      <dgm:t>
        <a:bodyPr/>
        <a:lstStyle/>
        <a:p>
          <a:endParaRPr lang="pt-BR"/>
        </a:p>
      </dgm:t>
    </dgm:pt>
    <dgm:pt modelId="{6485A365-84AB-409F-9B96-F94B00D273F7}" type="sibTrans" cxnId="{DEEA257B-227B-4791-9946-7A8A4EE90EBB}">
      <dgm:prSet/>
      <dgm:spPr/>
      <dgm:t>
        <a:bodyPr/>
        <a:lstStyle/>
        <a:p>
          <a:endParaRPr lang="pt-BR"/>
        </a:p>
      </dgm:t>
    </dgm:pt>
    <dgm:pt modelId="{853AB87C-6A3A-49DF-8755-1DDBF6CCD71A}">
      <dgm:prSet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Objetivo central: </a:t>
          </a:r>
          <a:r>
            <a:rPr lang="pt-BR" sz="1600" b="0" dirty="0"/>
            <a:t>Atender  a toda demanda dos destinos, sem ultrapassar o limite de oferta das origens, gastando o menor valor total possível</a:t>
          </a:r>
          <a:r>
            <a:rPr lang="pt-BR" sz="1600" b="1" dirty="0"/>
            <a:t>.</a:t>
          </a:r>
        </a:p>
      </dgm:t>
    </dgm:pt>
    <dgm:pt modelId="{81343F87-F638-4B9F-A146-A47B0D5EF20C}" type="parTrans" cxnId="{E655983F-33D0-4BF9-93BE-B787EA9BFF65}">
      <dgm:prSet/>
      <dgm:spPr/>
      <dgm:t>
        <a:bodyPr/>
        <a:lstStyle/>
        <a:p>
          <a:endParaRPr lang="pt-BR"/>
        </a:p>
      </dgm:t>
    </dgm:pt>
    <dgm:pt modelId="{BFB548A5-E4BE-4B48-A43F-FFAC0434A189}" type="sibTrans" cxnId="{E655983F-33D0-4BF9-93BE-B787EA9BFF65}">
      <dgm:prSet/>
      <dgm:spPr/>
      <dgm:t>
        <a:bodyPr/>
        <a:lstStyle/>
        <a:p>
          <a:endParaRPr lang="pt-BR"/>
        </a:p>
      </dgm:t>
    </dgm:pt>
    <dgm:pt modelId="{3832A3FB-9D67-461C-A409-52372F759CCE}" type="pres">
      <dgm:prSet presAssocID="{81821C21-2509-4E11-BC51-7BF99FD99B81}" presName="linearFlow" presStyleCnt="0">
        <dgm:presLayoutVars>
          <dgm:dir/>
          <dgm:resizeHandles val="exact"/>
        </dgm:presLayoutVars>
      </dgm:prSet>
      <dgm:spPr/>
    </dgm:pt>
    <dgm:pt modelId="{4996AD3E-FE8A-4263-9814-43AECCE4229B}" type="pres">
      <dgm:prSet presAssocID="{D594CE5A-E184-4E0C-B656-A2A3A176B696}" presName="composite" presStyleCnt="0"/>
      <dgm:spPr/>
    </dgm:pt>
    <dgm:pt modelId="{DD044B81-56A0-4B69-8A41-507FCD3A6458}" type="pres">
      <dgm:prSet presAssocID="{D594CE5A-E184-4E0C-B656-A2A3A176B696}" presName="imgShp" presStyleLbl="fgImgPlace1" presStyleIdx="0" presStyleCnt="4" custLinFactNeighborX="3208" custLinFactNeighborY="2163"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9F3C799D-4D70-465C-8FDF-1A26C66432C3}" type="pres">
      <dgm:prSet presAssocID="{D594CE5A-E184-4E0C-B656-A2A3A176B696}" presName="txShp" presStyleLbl="node1" presStyleIdx="0" presStyleCnt="4">
        <dgm:presLayoutVars>
          <dgm:bulletEnabled val="1"/>
        </dgm:presLayoutVars>
      </dgm:prSet>
      <dgm:spPr/>
    </dgm:pt>
    <dgm:pt modelId="{EBB74972-2CF3-4D08-B4E5-87CBBE1B4172}" type="pres">
      <dgm:prSet presAssocID="{F7E2D3EC-4E2A-42B9-BC7C-67D7E6AA1AD7}" presName="spacing" presStyleCnt="0"/>
      <dgm:spPr/>
    </dgm:pt>
    <dgm:pt modelId="{CE9EE18C-34E7-4BBF-AAEE-7B9FD162975A}" type="pres">
      <dgm:prSet presAssocID="{3E57AB56-2AA5-4E2F-A1C8-AC791C2DE47F}" presName="composite" presStyleCnt="0"/>
      <dgm:spPr/>
    </dgm:pt>
    <dgm:pt modelId="{F24B6767-10BD-4DFB-97B6-C4AF31ED1344}" type="pres">
      <dgm:prSet presAssocID="{3E57AB56-2AA5-4E2F-A1C8-AC791C2DE47F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ja"/>
        </a:ext>
      </dgm:extLst>
    </dgm:pt>
    <dgm:pt modelId="{F3EFACDD-0A4F-4ED9-A48D-B3AC844D7AF2}" type="pres">
      <dgm:prSet presAssocID="{3E57AB56-2AA5-4E2F-A1C8-AC791C2DE47F}" presName="txShp" presStyleLbl="node1" presStyleIdx="1" presStyleCnt="4">
        <dgm:presLayoutVars>
          <dgm:bulletEnabled val="1"/>
        </dgm:presLayoutVars>
      </dgm:prSet>
      <dgm:spPr/>
    </dgm:pt>
    <dgm:pt modelId="{791F0267-1B26-4EB5-A6A8-3D89F143A137}" type="pres">
      <dgm:prSet presAssocID="{B3CB88D5-E493-4A6A-BFF7-3F6EAC8BDE4D}" presName="spacing" presStyleCnt="0"/>
      <dgm:spPr/>
    </dgm:pt>
    <dgm:pt modelId="{A5A0A6FE-B6E8-41D2-989F-C7CAC5896DFE}" type="pres">
      <dgm:prSet presAssocID="{B3CA2853-4E5C-4380-935A-A1C2E86E7F75}" presName="composite" presStyleCnt="0"/>
      <dgm:spPr/>
    </dgm:pt>
    <dgm:pt modelId="{C4F5FCAC-83F2-4F96-9CD4-BDD39D2EF3AE}" type="pres">
      <dgm:prSet presAssocID="{B3CA2853-4E5C-4380-935A-A1C2E86E7F75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367ECF6F-D14B-4384-AE9C-B28B7A610E5A}" type="pres">
      <dgm:prSet presAssocID="{B3CA2853-4E5C-4380-935A-A1C2E86E7F75}" presName="txShp" presStyleLbl="node1" presStyleIdx="2" presStyleCnt="4" custScaleY="130151">
        <dgm:presLayoutVars>
          <dgm:bulletEnabled val="1"/>
        </dgm:presLayoutVars>
      </dgm:prSet>
      <dgm:spPr/>
    </dgm:pt>
    <dgm:pt modelId="{5350FDA9-B9AC-4477-9BEC-ED392E728A75}" type="pres">
      <dgm:prSet presAssocID="{6485A365-84AB-409F-9B96-F94B00D273F7}" presName="spacing" presStyleCnt="0"/>
      <dgm:spPr/>
    </dgm:pt>
    <dgm:pt modelId="{2F7E34D9-6367-46ED-8D01-E500EC625AC7}" type="pres">
      <dgm:prSet presAssocID="{853AB87C-6A3A-49DF-8755-1DDBF6CCD71A}" presName="composite" presStyleCnt="0"/>
      <dgm:spPr/>
    </dgm:pt>
    <dgm:pt modelId="{2FCC20C6-D851-47EE-826C-2426FF770520}" type="pres">
      <dgm:prSet presAssocID="{853AB87C-6A3A-49DF-8755-1DDBF6CCD71A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DE12D77A-43B1-4F21-937C-4068A328493C}" type="pres">
      <dgm:prSet presAssocID="{853AB87C-6A3A-49DF-8755-1DDBF6CCD71A}" presName="txShp" presStyleLbl="node1" presStyleIdx="3" presStyleCnt="4">
        <dgm:presLayoutVars>
          <dgm:bulletEnabled val="1"/>
        </dgm:presLayoutVars>
      </dgm:prSet>
      <dgm:spPr/>
    </dgm:pt>
  </dgm:ptLst>
  <dgm:cxnLst>
    <dgm:cxn modelId="{44340A09-3BFA-46D0-BF0A-2B9377B0BB84}" srcId="{81821C21-2509-4E11-BC51-7BF99FD99B81}" destId="{3E57AB56-2AA5-4E2F-A1C8-AC791C2DE47F}" srcOrd="1" destOrd="0" parTransId="{B31ADC7B-8F74-4F66-AEFA-E2D404DE1F41}" sibTransId="{B3CB88D5-E493-4A6A-BFF7-3F6EAC8BDE4D}"/>
    <dgm:cxn modelId="{BA72DA18-10B0-49D3-967F-4B64F387DC65}" type="presOf" srcId="{81821C21-2509-4E11-BC51-7BF99FD99B81}" destId="{3832A3FB-9D67-461C-A409-52372F759CCE}" srcOrd="0" destOrd="0" presId="urn:microsoft.com/office/officeart/2005/8/layout/vList3"/>
    <dgm:cxn modelId="{AF613023-BFCA-4F05-B438-AEC0527BD20E}" srcId="{81821C21-2509-4E11-BC51-7BF99FD99B81}" destId="{D594CE5A-E184-4E0C-B656-A2A3A176B696}" srcOrd="0" destOrd="0" parTransId="{29427177-216C-4C84-8D6F-364A77AAEB72}" sibTransId="{F7E2D3EC-4E2A-42B9-BC7C-67D7E6AA1AD7}"/>
    <dgm:cxn modelId="{E655983F-33D0-4BF9-93BE-B787EA9BFF65}" srcId="{81821C21-2509-4E11-BC51-7BF99FD99B81}" destId="{853AB87C-6A3A-49DF-8755-1DDBF6CCD71A}" srcOrd="3" destOrd="0" parTransId="{81343F87-F638-4B9F-A146-A47B0D5EF20C}" sibTransId="{BFB548A5-E4BE-4B48-A43F-FFAC0434A189}"/>
    <dgm:cxn modelId="{EC9B0D6A-D884-42D4-A5E2-1A461E806886}" type="presOf" srcId="{B3CA2853-4E5C-4380-935A-A1C2E86E7F75}" destId="{367ECF6F-D14B-4384-AE9C-B28B7A610E5A}" srcOrd="0" destOrd="0" presId="urn:microsoft.com/office/officeart/2005/8/layout/vList3"/>
    <dgm:cxn modelId="{3F4AE64F-0EE5-4B63-B23D-866058CFB2F1}" type="presOf" srcId="{3E57AB56-2AA5-4E2F-A1C8-AC791C2DE47F}" destId="{F3EFACDD-0A4F-4ED9-A48D-B3AC844D7AF2}" srcOrd="0" destOrd="0" presId="urn:microsoft.com/office/officeart/2005/8/layout/vList3"/>
    <dgm:cxn modelId="{8F43FC75-BA9C-4969-A4E6-C8A47D885E8C}" type="presOf" srcId="{D594CE5A-E184-4E0C-B656-A2A3A176B696}" destId="{9F3C799D-4D70-465C-8FDF-1A26C66432C3}" srcOrd="0" destOrd="0" presId="urn:microsoft.com/office/officeart/2005/8/layout/vList3"/>
    <dgm:cxn modelId="{DEEA257B-227B-4791-9946-7A8A4EE90EBB}" srcId="{81821C21-2509-4E11-BC51-7BF99FD99B81}" destId="{B3CA2853-4E5C-4380-935A-A1C2E86E7F75}" srcOrd="2" destOrd="0" parTransId="{722D8C30-2BAC-4F04-B33F-4EC820840A90}" sibTransId="{6485A365-84AB-409F-9B96-F94B00D273F7}"/>
    <dgm:cxn modelId="{3188A096-626B-4A9E-8649-6DB9CCABC51A}" type="presOf" srcId="{853AB87C-6A3A-49DF-8755-1DDBF6CCD71A}" destId="{DE12D77A-43B1-4F21-937C-4068A328493C}" srcOrd="0" destOrd="0" presId="urn:microsoft.com/office/officeart/2005/8/layout/vList3"/>
    <dgm:cxn modelId="{8D0FD53D-BA63-40DB-A188-EF9AF1E209D5}" type="presParOf" srcId="{3832A3FB-9D67-461C-A409-52372F759CCE}" destId="{4996AD3E-FE8A-4263-9814-43AECCE4229B}" srcOrd="0" destOrd="0" presId="urn:microsoft.com/office/officeart/2005/8/layout/vList3"/>
    <dgm:cxn modelId="{8D01F470-3030-4BAD-A60C-826B134FF231}" type="presParOf" srcId="{4996AD3E-FE8A-4263-9814-43AECCE4229B}" destId="{DD044B81-56A0-4B69-8A41-507FCD3A6458}" srcOrd="0" destOrd="0" presId="urn:microsoft.com/office/officeart/2005/8/layout/vList3"/>
    <dgm:cxn modelId="{B3AE4C30-A89C-40D0-AD75-11E5D237F4FF}" type="presParOf" srcId="{4996AD3E-FE8A-4263-9814-43AECCE4229B}" destId="{9F3C799D-4D70-465C-8FDF-1A26C66432C3}" srcOrd="1" destOrd="0" presId="urn:microsoft.com/office/officeart/2005/8/layout/vList3"/>
    <dgm:cxn modelId="{2D4E787B-931B-47ED-B2D2-36360ADD8477}" type="presParOf" srcId="{3832A3FB-9D67-461C-A409-52372F759CCE}" destId="{EBB74972-2CF3-4D08-B4E5-87CBBE1B4172}" srcOrd="1" destOrd="0" presId="urn:microsoft.com/office/officeart/2005/8/layout/vList3"/>
    <dgm:cxn modelId="{C25E89EA-A6CB-49D1-A093-D642E4D2CC40}" type="presParOf" srcId="{3832A3FB-9D67-461C-A409-52372F759CCE}" destId="{CE9EE18C-34E7-4BBF-AAEE-7B9FD162975A}" srcOrd="2" destOrd="0" presId="urn:microsoft.com/office/officeart/2005/8/layout/vList3"/>
    <dgm:cxn modelId="{BAF70F54-04CB-4644-9FBE-F0398C518A91}" type="presParOf" srcId="{CE9EE18C-34E7-4BBF-AAEE-7B9FD162975A}" destId="{F24B6767-10BD-4DFB-97B6-C4AF31ED1344}" srcOrd="0" destOrd="0" presId="urn:microsoft.com/office/officeart/2005/8/layout/vList3"/>
    <dgm:cxn modelId="{D896A594-5FFB-42FA-A467-346E53BFC37E}" type="presParOf" srcId="{CE9EE18C-34E7-4BBF-AAEE-7B9FD162975A}" destId="{F3EFACDD-0A4F-4ED9-A48D-B3AC844D7AF2}" srcOrd="1" destOrd="0" presId="urn:microsoft.com/office/officeart/2005/8/layout/vList3"/>
    <dgm:cxn modelId="{C3619C57-62BD-4D2E-9ACF-4D2BFA869409}" type="presParOf" srcId="{3832A3FB-9D67-461C-A409-52372F759CCE}" destId="{791F0267-1B26-4EB5-A6A8-3D89F143A137}" srcOrd="3" destOrd="0" presId="urn:microsoft.com/office/officeart/2005/8/layout/vList3"/>
    <dgm:cxn modelId="{C82C62C5-9688-4B30-BE6E-937A41196EB5}" type="presParOf" srcId="{3832A3FB-9D67-461C-A409-52372F759CCE}" destId="{A5A0A6FE-B6E8-41D2-989F-C7CAC5896DFE}" srcOrd="4" destOrd="0" presId="urn:microsoft.com/office/officeart/2005/8/layout/vList3"/>
    <dgm:cxn modelId="{784EDBD2-A832-40FD-9FB6-9F12446074AE}" type="presParOf" srcId="{A5A0A6FE-B6E8-41D2-989F-C7CAC5896DFE}" destId="{C4F5FCAC-83F2-4F96-9CD4-BDD39D2EF3AE}" srcOrd="0" destOrd="0" presId="urn:microsoft.com/office/officeart/2005/8/layout/vList3"/>
    <dgm:cxn modelId="{B685C9BE-EBFA-4A20-B0A9-AE172A83C186}" type="presParOf" srcId="{A5A0A6FE-B6E8-41D2-989F-C7CAC5896DFE}" destId="{367ECF6F-D14B-4384-AE9C-B28B7A610E5A}" srcOrd="1" destOrd="0" presId="urn:microsoft.com/office/officeart/2005/8/layout/vList3"/>
    <dgm:cxn modelId="{E0E71BD2-C421-4C3A-95C5-3E7C362FBADD}" type="presParOf" srcId="{3832A3FB-9D67-461C-A409-52372F759CCE}" destId="{5350FDA9-B9AC-4477-9BEC-ED392E728A75}" srcOrd="5" destOrd="0" presId="urn:microsoft.com/office/officeart/2005/8/layout/vList3"/>
    <dgm:cxn modelId="{B75BBF56-E0E0-4E19-8456-9C59F3554FAB}" type="presParOf" srcId="{3832A3FB-9D67-461C-A409-52372F759CCE}" destId="{2F7E34D9-6367-46ED-8D01-E500EC625AC7}" srcOrd="6" destOrd="0" presId="urn:microsoft.com/office/officeart/2005/8/layout/vList3"/>
    <dgm:cxn modelId="{593513A0-2703-48C0-BDB5-18D5F221370D}" type="presParOf" srcId="{2F7E34D9-6367-46ED-8D01-E500EC625AC7}" destId="{2FCC20C6-D851-47EE-826C-2426FF770520}" srcOrd="0" destOrd="0" presId="urn:microsoft.com/office/officeart/2005/8/layout/vList3"/>
    <dgm:cxn modelId="{2901A4AD-B8D9-44DB-9CAB-D3D54E81B8D1}" type="presParOf" srcId="{2F7E34D9-6367-46ED-8D01-E500EC625AC7}" destId="{DE12D77A-43B1-4F21-937C-4068A328493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2D77FF-F0FC-465B-9FDF-A6EE271799D9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83F30F0-F7B9-4A9C-9C02-BFD3653257D3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800" b="1" dirty="0"/>
            <a:t>Problema Balanceado</a:t>
          </a:r>
        </a:p>
        <a:p>
          <a:endParaRPr lang="pt-BR" sz="2800" b="1" dirty="0"/>
        </a:p>
        <a:p>
          <a:r>
            <a:rPr lang="pt-BR" sz="2800" dirty="0"/>
            <a:t>Ocorre quando a oferta total é exatamente igual à demanda total. É o cenário ideal para aplicação direta dos algoritmos.</a:t>
          </a:r>
        </a:p>
        <a:p>
          <a:endParaRPr lang="pt-BR" sz="2800" dirty="0"/>
        </a:p>
        <a:p>
          <a:r>
            <a:rPr lang="pt-B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= ∑ Demanda</a:t>
          </a:r>
          <a:endParaRPr lang="pt-BR" sz="2800" b="1" dirty="0"/>
        </a:p>
      </dgm:t>
    </dgm:pt>
    <dgm:pt modelId="{E17F50D9-FE93-475D-99EF-6B2EC0B60837}" type="parTrans" cxnId="{4DC6168B-DCBF-4420-84C3-3366C36C2648}">
      <dgm:prSet/>
      <dgm:spPr/>
      <dgm:t>
        <a:bodyPr/>
        <a:lstStyle/>
        <a:p>
          <a:endParaRPr lang="pt-BR"/>
        </a:p>
      </dgm:t>
    </dgm:pt>
    <dgm:pt modelId="{6F22C243-EE64-4217-A411-02F4772FCAF2}" type="sibTrans" cxnId="{4DC6168B-DCBF-4420-84C3-3366C36C2648}">
      <dgm:prSet/>
      <dgm:spPr/>
      <dgm:t>
        <a:bodyPr/>
        <a:lstStyle/>
        <a:p>
          <a:endParaRPr lang="pt-BR"/>
        </a:p>
      </dgm:t>
    </dgm:pt>
    <dgm:pt modelId="{8B1248D0-B4F0-4871-8314-C7F33215A907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sz="2800" b="1" dirty="0"/>
        </a:p>
        <a:p>
          <a:r>
            <a:rPr lang="pt-BR" sz="2800" b="1" dirty="0"/>
            <a:t>Problema não Balanceado</a:t>
          </a:r>
        </a:p>
        <a:p>
          <a:endParaRPr lang="pt-BR" sz="2800" b="1" dirty="0"/>
        </a:p>
        <a:p>
          <a:r>
            <a:rPr lang="pt-BR" sz="2800" dirty="0"/>
            <a:t>Quando há excesso de oferta ou demanda. Resolve-se adicionando uma origem ou destino “fictício” (dummy) com custo zero.</a:t>
          </a:r>
        </a:p>
        <a:p>
          <a:endParaRPr lang="pt-BR" sz="2800" dirty="0"/>
        </a:p>
        <a:p>
          <a:r>
            <a:rPr lang="pt-B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≠ ∑ Demanda</a:t>
          </a:r>
          <a:endParaRPr lang="pt-BR" sz="2800" dirty="0"/>
        </a:p>
        <a:p>
          <a:endParaRPr lang="pt-BR" sz="2400" dirty="0"/>
        </a:p>
      </dgm:t>
    </dgm:pt>
    <dgm:pt modelId="{682C0FDA-B227-4D07-8ABA-86C1F606D6ED}" type="parTrans" cxnId="{A8AE86F7-83CA-431B-AE73-475221C44ABD}">
      <dgm:prSet/>
      <dgm:spPr/>
      <dgm:t>
        <a:bodyPr/>
        <a:lstStyle/>
        <a:p>
          <a:endParaRPr lang="pt-BR"/>
        </a:p>
      </dgm:t>
    </dgm:pt>
    <dgm:pt modelId="{3B067E91-D584-448E-938A-30B1CA664734}" type="sibTrans" cxnId="{A8AE86F7-83CA-431B-AE73-475221C44ABD}">
      <dgm:prSet/>
      <dgm:spPr/>
      <dgm:t>
        <a:bodyPr/>
        <a:lstStyle/>
        <a:p>
          <a:endParaRPr lang="pt-BR"/>
        </a:p>
      </dgm:t>
    </dgm:pt>
    <dgm:pt modelId="{E2E1B10D-0560-4332-8FE6-A7342D4E44E3}" type="pres">
      <dgm:prSet presAssocID="{6A2D77FF-F0FC-465B-9FDF-A6EE271799D9}" presName="diagram" presStyleCnt="0">
        <dgm:presLayoutVars>
          <dgm:dir/>
          <dgm:resizeHandles val="exact"/>
        </dgm:presLayoutVars>
      </dgm:prSet>
      <dgm:spPr/>
    </dgm:pt>
    <dgm:pt modelId="{7233716C-3BD3-461E-A12F-8D7E6D09DB36}" type="pres">
      <dgm:prSet presAssocID="{083F30F0-F7B9-4A9C-9C02-BFD3653257D3}" presName="node" presStyleLbl="node1" presStyleIdx="0" presStyleCnt="2" custScaleY="156866" custLinFactNeighborX="-22">
        <dgm:presLayoutVars>
          <dgm:bulletEnabled val="1"/>
        </dgm:presLayoutVars>
      </dgm:prSet>
      <dgm:spPr/>
    </dgm:pt>
    <dgm:pt modelId="{B9012AE3-9309-4778-87B1-593149D999BC}" type="pres">
      <dgm:prSet presAssocID="{6F22C243-EE64-4217-A411-02F4772FCAF2}" presName="sibTrans" presStyleCnt="0"/>
      <dgm:spPr/>
    </dgm:pt>
    <dgm:pt modelId="{453A5022-E555-4B96-91B1-4187E37D6665}" type="pres">
      <dgm:prSet presAssocID="{8B1248D0-B4F0-4871-8314-C7F33215A907}" presName="node" presStyleLbl="node1" presStyleIdx="1" presStyleCnt="2" custScaleY="156705" custLinFactNeighborX="237" custLinFactNeighborY="-1136">
        <dgm:presLayoutVars>
          <dgm:bulletEnabled val="1"/>
        </dgm:presLayoutVars>
      </dgm:prSet>
      <dgm:spPr/>
    </dgm:pt>
  </dgm:ptLst>
  <dgm:cxnLst>
    <dgm:cxn modelId="{DA727180-687A-49EF-8C05-5A701ED60E68}" type="presOf" srcId="{6A2D77FF-F0FC-465B-9FDF-A6EE271799D9}" destId="{E2E1B10D-0560-4332-8FE6-A7342D4E44E3}" srcOrd="0" destOrd="0" presId="urn:microsoft.com/office/officeart/2005/8/layout/default"/>
    <dgm:cxn modelId="{4DC6168B-DCBF-4420-84C3-3366C36C2648}" srcId="{6A2D77FF-F0FC-465B-9FDF-A6EE271799D9}" destId="{083F30F0-F7B9-4A9C-9C02-BFD3653257D3}" srcOrd="0" destOrd="0" parTransId="{E17F50D9-FE93-475D-99EF-6B2EC0B60837}" sibTransId="{6F22C243-EE64-4217-A411-02F4772FCAF2}"/>
    <dgm:cxn modelId="{FE9DE28C-A87E-46D0-8E55-133F3685591A}" type="presOf" srcId="{083F30F0-F7B9-4A9C-9C02-BFD3653257D3}" destId="{7233716C-3BD3-461E-A12F-8D7E6D09DB36}" srcOrd="0" destOrd="0" presId="urn:microsoft.com/office/officeart/2005/8/layout/default"/>
    <dgm:cxn modelId="{4241F3D2-9128-49AD-9DEA-E4698EBD7C28}" type="presOf" srcId="{8B1248D0-B4F0-4871-8314-C7F33215A907}" destId="{453A5022-E555-4B96-91B1-4187E37D6665}" srcOrd="0" destOrd="0" presId="urn:microsoft.com/office/officeart/2005/8/layout/default"/>
    <dgm:cxn modelId="{A8AE86F7-83CA-431B-AE73-475221C44ABD}" srcId="{6A2D77FF-F0FC-465B-9FDF-A6EE271799D9}" destId="{8B1248D0-B4F0-4871-8314-C7F33215A907}" srcOrd="1" destOrd="0" parTransId="{682C0FDA-B227-4D07-8ABA-86C1F606D6ED}" sibTransId="{3B067E91-D584-448E-938A-30B1CA664734}"/>
    <dgm:cxn modelId="{88C5A004-3A8F-49ED-BA90-C0B0EACF1613}" type="presParOf" srcId="{E2E1B10D-0560-4332-8FE6-A7342D4E44E3}" destId="{7233716C-3BD3-461E-A12F-8D7E6D09DB36}" srcOrd="0" destOrd="0" presId="urn:microsoft.com/office/officeart/2005/8/layout/default"/>
    <dgm:cxn modelId="{7D8780CC-F00E-4746-84BA-5AD5E54A5D7E}" type="presParOf" srcId="{E2E1B10D-0560-4332-8FE6-A7342D4E44E3}" destId="{B9012AE3-9309-4778-87B1-593149D999BC}" srcOrd="1" destOrd="0" presId="urn:microsoft.com/office/officeart/2005/8/layout/default"/>
    <dgm:cxn modelId="{0C919CA7-5D85-4640-97DB-740E6A2C9D9A}" type="presParOf" srcId="{E2E1B10D-0560-4332-8FE6-A7342D4E44E3}" destId="{453A5022-E555-4B96-91B1-4187E37D666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2D77FF-F0FC-465B-9FDF-A6EE271799D9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83F30F0-F7B9-4A9C-9C02-BFD3653257D3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b="1" noProof="1"/>
            <a:t>Canto Noroeste</a:t>
          </a:r>
        </a:p>
        <a:p>
          <a:endParaRPr lang="pt-BR" sz="2400" noProof="1"/>
        </a:p>
        <a:p>
          <a:r>
            <a:rPr lang="pt-BR" sz="2400" noProof="1"/>
            <a:t>Método puramente mecânico que começa na célula superior esquerda da matriz. É simples, mas raramente fornece um custo baixo.</a:t>
          </a:r>
          <a:endParaRPr lang="pt-BR" sz="2400" dirty="0"/>
        </a:p>
      </dgm:t>
    </dgm:pt>
    <dgm:pt modelId="{6F22C243-EE64-4217-A411-02F4772FCAF2}" type="sibTrans" cxnId="{4DC6168B-DCBF-4420-84C3-3366C36C2648}">
      <dgm:prSet/>
      <dgm:spPr/>
      <dgm:t>
        <a:bodyPr/>
        <a:lstStyle/>
        <a:p>
          <a:endParaRPr lang="pt-BR"/>
        </a:p>
      </dgm:t>
    </dgm:pt>
    <dgm:pt modelId="{E17F50D9-FE93-475D-99EF-6B2EC0B60837}" type="parTrans" cxnId="{4DC6168B-DCBF-4420-84C3-3366C36C2648}">
      <dgm:prSet/>
      <dgm:spPr/>
      <dgm:t>
        <a:bodyPr/>
        <a:lstStyle/>
        <a:p>
          <a:endParaRPr lang="pt-BR"/>
        </a:p>
      </dgm:t>
    </dgm:pt>
    <dgm:pt modelId="{8B1248D0-B4F0-4871-8314-C7F33215A907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b="1" noProof="1"/>
            <a:t>Menor Custo</a:t>
          </a:r>
        </a:p>
        <a:p>
          <a:endParaRPr lang="pt-BR" sz="2400" noProof="1"/>
        </a:p>
        <a:p>
          <a:r>
            <a:rPr lang="pt-BR" sz="2400" noProof="1"/>
            <a:t>Aloca a maior quantidade possível na célula de menor custo unitário. Tende a ser muito superior ao método do canto noroeste.</a:t>
          </a:r>
          <a:endParaRPr lang="pt-BR" sz="2400" dirty="0"/>
        </a:p>
      </dgm:t>
    </dgm:pt>
    <dgm:pt modelId="{3B067E91-D584-448E-938A-30B1CA664734}" type="sibTrans" cxnId="{A8AE86F7-83CA-431B-AE73-475221C44ABD}">
      <dgm:prSet/>
      <dgm:spPr/>
      <dgm:t>
        <a:bodyPr/>
        <a:lstStyle/>
        <a:p>
          <a:endParaRPr lang="pt-BR"/>
        </a:p>
      </dgm:t>
    </dgm:pt>
    <dgm:pt modelId="{682C0FDA-B227-4D07-8ABA-86C1F606D6ED}" type="parTrans" cxnId="{A8AE86F7-83CA-431B-AE73-475221C44ABD}">
      <dgm:prSet/>
      <dgm:spPr/>
      <dgm:t>
        <a:bodyPr/>
        <a:lstStyle/>
        <a:p>
          <a:endParaRPr lang="pt-BR"/>
        </a:p>
      </dgm:t>
    </dgm:pt>
    <dgm:pt modelId="{49C10957-00A0-4A91-A310-ACB77BF3084E}">
      <dgm:prSet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sz="3200" b="1" noProof="1"/>
        </a:p>
        <a:p>
          <a:r>
            <a:rPr lang="pt-BR" sz="3200" b="1" noProof="1"/>
            <a:t>“V” </a:t>
          </a:r>
          <a:r>
            <a:rPr lang="pt-BR" sz="2400" b="1" noProof="1"/>
            <a:t>Vogel (vam)</a:t>
          </a:r>
        </a:p>
        <a:p>
          <a:endParaRPr lang="pt-BR" sz="2400" noProof="1"/>
        </a:p>
        <a:p>
          <a:r>
            <a:rPr lang="pt-BR" sz="2400" noProof="1"/>
            <a:t>Baseia-se em “penalidades” por não escolher a rota mais barata. É o método mais sofisticado e geralmente fornece a melhor SBI.</a:t>
          </a:r>
        </a:p>
        <a:p>
          <a:endParaRPr lang="pt-BR" sz="1800" noProof="1"/>
        </a:p>
      </dgm:t>
    </dgm:pt>
    <dgm:pt modelId="{B4E342F2-65A4-4DD9-8A45-42A0F276264B}" type="sibTrans" cxnId="{7B70C5CD-4FEA-4C49-A7F9-22642019219D}">
      <dgm:prSet/>
      <dgm:spPr/>
      <dgm:t>
        <a:bodyPr/>
        <a:lstStyle/>
        <a:p>
          <a:endParaRPr lang="pt-BR"/>
        </a:p>
      </dgm:t>
    </dgm:pt>
    <dgm:pt modelId="{9D6D9BCC-B804-4896-AA7D-4745072D1512}" type="parTrans" cxnId="{7B70C5CD-4FEA-4C49-A7F9-22642019219D}">
      <dgm:prSet/>
      <dgm:spPr/>
      <dgm:t>
        <a:bodyPr/>
        <a:lstStyle/>
        <a:p>
          <a:endParaRPr lang="pt-BR"/>
        </a:p>
      </dgm:t>
    </dgm:pt>
    <dgm:pt modelId="{E2E1B10D-0560-4332-8FE6-A7342D4E44E3}" type="pres">
      <dgm:prSet presAssocID="{6A2D77FF-F0FC-465B-9FDF-A6EE271799D9}" presName="diagram" presStyleCnt="0">
        <dgm:presLayoutVars>
          <dgm:dir/>
          <dgm:resizeHandles val="exact"/>
        </dgm:presLayoutVars>
      </dgm:prSet>
      <dgm:spPr/>
    </dgm:pt>
    <dgm:pt modelId="{7233716C-3BD3-461E-A12F-8D7E6D09DB36}" type="pres">
      <dgm:prSet presAssocID="{083F30F0-F7B9-4A9C-9C02-BFD3653257D3}" presName="node" presStyleLbl="node1" presStyleIdx="0" presStyleCnt="3" custScaleY="239478" custLinFactNeighborX="-22">
        <dgm:presLayoutVars>
          <dgm:bulletEnabled val="1"/>
        </dgm:presLayoutVars>
      </dgm:prSet>
      <dgm:spPr/>
    </dgm:pt>
    <dgm:pt modelId="{B9012AE3-9309-4778-87B1-593149D999BC}" type="pres">
      <dgm:prSet presAssocID="{6F22C243-EE64-4217-A411-02F4772FCAF2}" presName="sibTrans" presStyleCnt="0"/>
      <dgm:spPr/>
    </dgm:pt>
    <dgm:pt modelId="{453A5022-E555-4B96-91B1-4187E37D6665}" type="pres">
      <dgm:prSet presAssocID="{8B1248D0-B4F0-4871-8314-C7F33215A907}" presName="node" presStyleLbl="node1" presStyleIdx="1" presStyleCnt="3" custScaleY="239104" custLinFactNeighborX="623" custLinFactNeighborY="794">
        <dgm:presLayoutVars>
          <dgm:bulletEnabled val="1"/>
        </dgm:presLayoutVars>
      </dgm:prSet>
      <dgm:spPr/>
    </dgm:pt>
    <dgm:pt modelId="{DE683A0E-8E20-4B2C-9696-457C3D47E1F3}" type="pres">
      <dgm:prSet presAssocID="{3B067E91-D584-448E-938A-30B1CA664734}" presName="sibTrans" presStyleCnt="0"/>
      <dgm:spPr/>
    </dgm:pt>
    <dgm:pt modelId="{1AE8DCAC-FFB2-4EA5-A6D1-4803B89B488F}" type="pres">
      <dgm:prSet presAssocID="{49C10957-00A0-4A91-A310-ACB77BF3084E}" presName="node" presStyleLbl="node1" presStyleIdx="2" presStyleCnt="3" custScaleY="238730">
        <dgm:presLayoutVars>
          <dgm:bulletEnabled val="1"/>
        </dgm:presLayoutVars>
      </dgm:prSet>
      <dgm:spPr/>
    </dgm:pt>
  </dgm:ptLst>
  <dgm:cxnLst>
    <dgm:cxn modelId="{274D8849-4E41-45B6-86DC-618439327F50}" type="presOf" srcId="{49C10957-00A0-4A91-A310-ACB77BF3084E}" destId="{1AE8DCAC-FFB2-4EA5-A6D1-4803B89B488F}" srcOrd="0" destOrd="0" presId="urn:microsoft.com/office/officeart/2005/8/layout/default"/>
    <dgm:cxn modelId="{DA727180-687A-49EF-8C05-5A701ED60E68}" type="presOf" srcId="{6A2D77FF-F0FC-465B-9FDF-A6EE271799D9}" destId="{E2E1B10D-0560-4332-8FE6-A7342D4E44E3}" srcOrd="0" destOrd="0" presId="urn:microsoft.com/office/officeart/2005/8/layout/default"/>
    <dgm:cxn modelId="{4DC6168B-DCBF-4420-84C3-3366C36C2648}" srcId="{6A2D77FF-F0FC-465B-9FDF-A6EE271799D9}" destId="{083F30F0-F7B9-4A9C-9C02-BFD3653257D3}" srcOrd="0" destOrd="0" parTransId="{E17F50D9-FE93-475D-99EF-6B2EC0B60837}" sibTransId="{6F22C243-EE64-4217-A411-02F4772FCAF2}"/>
    <dgm:cxn modelId="{FE9DE28C-A87E-46D0-8E55-133F3685591A}" type="presOf" srcId="{083F30F0-F7B9-4A9C-9C02-BFD3653257D3}" destId="{7233716C-3BD3-461E-A12F-8D7E6D09DB36}" srcOrd="0" destOrd="0" presId="urn:microsoft.com/office/officeart/2005/8/layout/default"/>
    <dgm:cxn modelId="{7B70C5CD-4FEA-4C49-A7F9-22642019219D}" srcId="{6A2D77FF-F0FC-465B-9FDF-A6EE271799D9}" destId="{49C10957-00A0-4A91-A310-ACB77BF3084E}" srcOrd="2" destOrd="0" parTransId="{9D6D9BCC-B804-4896-AA7D-4745072D1512}" sibTransId="{B4E342F2-65A4-4DD9-8A45-42A0F276264B}"/>
    <dgm:cxn modelId="{4241F3D2-9128-49AD-9DEA-E4698EBD7C28}" type="presOf" srcId="{8B1248D0-B4F0-4871-8314-C7F33215A907}" destId="{453A5022-E555-4B96-91B1-4187E37D6665}" srcOrd="0" destOrd="0" presId="urn:microsoft.com/office/officeart/2005/8/layout/default"/>
    <dgm:cxn modelId="{A8AE86F7-83CA-431B-AE73-475221C44ABD}" srcId="{6A2D77FF-F0FC-465B-9FDF-A6EE271799D9}" destId="{8B1248D0-B4F0-4871-8314-C7F33215A907}" srcOrd="1" destOrd="0" parTransId="{682C0FDA-B227-4D07-8ABA-86C1F606D6ED}" sibTransId="{3B067E91-D584-448E-938A-30B1CA664734}"/>
    <dgm:cxn modelId="{88C5A004-3A8F-49ED-BA90-C0B0EACF1613}" type="presParOf" srcId="{E2E1B10D-0560-4332-8FE6-A7342D4E44E3}" destId="{7233716C-3BD3-461E-A12F-8D7E6D09DB36}" srcOrd="0" destOrd="0" presId="urn:microsoft.com/office/officeart/2005/8/layout/default"/>
    <dgm:cxn modelId="{7D8780CC-F00E-4746-84BA-5AD5E54A5D7E}" type="presParOf" srcId="{E2E1B10D-0560-4332-8FE6-A7342D4E44E3}" destId="{B9012AE3-9309-4778-87B1-593149D999BC}" srcOrd="1" destOrd="0" presId="urn:microsoft.com/office/officeart/2005/8/layout/default"/>
    <dgm:cxn modelId="{0C919CA7-5D85-4640-97DB-740E6A2C9D9A}" type="presParOf" srcId="{E2E1B10D-0560-4332-8FE6-A7342D4E44E3}" destId="{453A5022-E555-4B96-91B1-4187E37D6665}" srcOrd="2" destOrd="0" presId="urn:microsoft.com/office/officeart/2005/8/layout/default"/>
    <dgm:cxn modelId="{F58496F9-9C1E-4F6F-8CAF-70CAAA970E3E}" type="presParOf" srcId="{E2E1B10D-0560-4332-8FE6-A7342D4E44E3}" destId="{DE683A0E-8E20-4B2C-9696-457C3D47E1F3}" srcOrd="3" destOrd="0" presId="urn:microsoft.com/office/officeart/2005/8/layout/default"/>
    <dgm:cxn modelId="{8A02CC3F-E443-43EF-9C50-3DC70BB91A8D}" type="presParOf" srcId="{E2E1B10D-0560-4332-8FE6-A7342D4E44E3}" destId="{1AE8DCAC-FFB2-4EA5-A6D1-4803B89B488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85518B-05C4-4127-91B6-D4F963641E78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4EE4B45-D862-468D-8DD9-3EA29C4E54CA}" type="pres">
      <dgm:prSet presAssocID="{1185518B-05C4-4127-91B6-D4F963641E7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33E46532-AA72-48A3-8FB6-871FC0DEAD84}" type="presOf" srcId="{1185518B-05C4-4127-91B6-D4F963641E78}" destId="{64EE4B45-D862-468D-8DD9-3EA29C4E54C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4EFBB4-8511-40D6-9F6B-242E7FE9E5C7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</dgm:pt>
    <dgm:pt modelId="{2654F728-41A8-400E-BCF7-0C4D2E04D742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1. Modelagem</a:t>
          </a:r>
        </a:p>
        <a:p>
          <a:endParaRPr lang="pt-BR" sz="2400" dirty="0"/>
        </a:p>
        <a:p>
          <a:r>
            <a:rPr lang="pt-BR" sz="2400" dirty="0"/>
            <a:t>Definir matriz de custo, oferta e demanda.</a:t>
          </a:r>
        </a:p>
      </dgm:t>
    </dgm:pt>
    <dgm:pt modelId="{9F388CA8-30A8-4879-9B54-B9C47446B88A}" type="parTrans" cxnId="{EBE79FA1-9B0A-4B9F-87BC-199DA080B66F}">
      <dgm:prSet/>
      <dgm:spPr/>
      <dgm:t>
        <a:bodyPr/>
        <a:lstStyle/>
        <a:p>
          <a:endParaRPr lang="pt-BR"/>
        </a:p>
      </dgm:t>
    </dgm:pt>
    <dgm:pt modelId="{5BDFEACF-7B69-4AF2-B1FF-F3F772CB4412}" type="sibTrans" cxnId="{EBE79FA1-9B0A-4B9F-87BC-199DA080B66F}">
      <dgm:prSet/>
      <dgm:spPr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dirty="0"/>
        </a:p>
      </dgm:t>
    </dgm:pt>
    <dgm:pt modelId="{605F0185-1520-4674-8205-09FB63E6F9D8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2. SBI</a:t>
          </a:r>
        </a:p>
        <a:p>
          <a:endParaRPr lang="pt-BR" sz="2400" dirty="0"/>
        </a:p>
        <a:p>
          <a:r>
            <a:rPr lang="pt-BR" sz="2400" dirty="0"/>
            <a:t>Aplicar noroeste, Menor custo ou Vogel.</a:t>
          </a:r>
        </a:p>
      </dgm:t>
    </dgm:pt>
    <dgm:pt modelId="{6CFF990A-F84C-4BF1-805D-B0734334F3BA}" type="parTrans" cxnId="{1152DCE0-E0EC-4840-BE7F-01CE93C3FE74}">
      <dgm:prSet/>
      <dgm:spPr/>
      <dgm:t>
        <a:bodyPr/>
        <a:lstStyle/>
        <a:p>
          <a:endParaRPr lang="pt-BR"/>
        </a:p>
      </dgm:t>
    </dgm:pt>
    <dgm:pt modelId="{D5254E10-DBB5-40F9-9081-F9C78F4D5994}" type="sibTrans" cxnId="{1152DCE0-E0EC-4840-BE7F-01CE93C3FE74}">
      <dgm:prSet/>
      <dgm:spPr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dirty="0"/>
        </a:p>
      </dgm:t>
    </dgm:pt>
    <dgm:pt modelId="{31F9E850-7A88-4232-A145-F33C2FABA21F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3. Teste</a:t>
          </a:r>
        </a:p>
        <a:p>
          <a:endParaRPr lang="pt-BR" sz="2400" dirty="0"/>
        </a:p>
        <a:p>
          <a:r>
            <a:rPr lang="pt-BR" sz="2400" dirty="0"/>
            <a:t>Verificar Otimalidade pelo método MODI.</a:t>
          </a:r>
        </a:p>
      </dgm:t>
    </dgm:pt>
    <dgm:pt modelId="{DE541F66-9E5B-437E-95AC-A956BEC84685}" type="parTrans" cxnId="{8F4A3652-5FBB-4F07-B77A-02049B7857F9}">
      <dgm:prSet/>
      <dgm:spPr/>
      <dgm:t>
        <a:bodyPr/>
        <a:lstStyle/>
        <a:p>
          <a:endParaRPr lang="pt-BR"/>
        </a:p>
      </dgm:t>
    </dgm:pt>
    <dgm:pt modelId="{97056903-1A38-4B92-856A-506FF3FE10DD}" type="sibTrans" cxnId="{8F4A3652-5FBB-4F07-B77A-02049B7857F9}">
      <dgm:prSet/>
      <dgm:spPr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dirty="0"/>
        </a:p>
      </dgm:t>
    </dgm:pt>
    <dgm:pt modelId="{5E5AF37C-466D-44A8-92A2-E72C2B2A745A}">
      <dgm:prSet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4. Melhora</a:t>
          </a:r>
        </a:p>
        <a:p>
          <a:endParaRPr lang="pt-BR" sz="2400" dirty="0"/>
        </a:p>
        <a:p>
          <a:r>
            <a:rPr lang="pt-BR" sz="2400" dirty="0"/>
            <a:t>Ajustar rotas até o custo ser o mínimo absoluto.</a:t>
          </a:r>
        </a:p>
      </dgm:t>
    </dgm:pt>
    <dgm:pt modelId="{8D3B3A52-B212-4730-8AD4-3AC19A5E5485}" type="parTrans" cxnId="{2A9FEBFA-55A2-418A-8629-77E1906AEC50}">
      <dgm:prSet/>
      <dgm:spPr/>
      <dgm:t>
        <a:bodyPr/>
        <a:lstStyle/>
        <a:p>
          <a:endParaRPr lang="pt-BR"/>
        </a:p>
      </dgm:t>
    </dgm:pt>
    <dgm:pt modelId="{B78E0214-FE4D-4F9F-84E5-84A4AB8F006A}" type="sibTrans" cxnId="{2A9FEBFA-55A2-418A-8629-77E1906AEC50}">
      <dgm:prSet/>
      <dgm:spPr/>
      <dgm:t>
        <a:bodyPr/>
        <a:lstStyle/>
        <a:p>
          <a:endParaRPr lang="pt-BR"/>
        </a:p>
      </dgm:t>
    </dgm:pt>
    <dgm:pt modelId="{1706B738-78E3-41D3-B88E-1BCC5C7DFA47}" type="pres">
      <dgm:prSet presAssocID="{E64EFBB4-8511-40D6-9F6B-242E7FE9E5C7}" presName="Name0" presStyleCnt="0">
        <dgm:presLayoutVars>
          <dgm:dir/>
          <dgm:resizeHandles val="exact"/>
        </dgm:presLayoutVars>
      </dgm:prSet>
      <dgm:spPr/>
    </dgm:pt>
    <dgm:pt modelId="{7E8998B4-FA88-4E76-99AA-75140EC21177}" type="pres">
      <dgm:prSet presAssocID="{2654F728-41A8-400E-BCF7-0C4D2E04D742}" presName="node" presStyleLbl="node1" presStyleIdx="0" presStyleCnt="4" custScaleX="240158" custScaleY="358985" custLinFactNeighborX="-1407">
        <dgm:presLayoutVars>
          <dgm:bulletEnabled val="1"/>
        </dgm:presLayoutVars>
      </dgm:prSet>
      <dgm:spPr/>
    </dgm:pt>
    <dgm:pt modelId="{7EA5BF07-760E-4137-BF31-BF4BFE19FB65}" type="pres">
      <dgm:prSet presAssocID="{5BDFEACF-7B69-4AF2-B1FF-F3F772CB4412}" presName="sibTrans" presStyleLbl="sibTrans2D1" presStyleIdx="0" presStyleCnt="3"/>
      <dgm:spPr/>
    </dgm:pt>
    <dgm:pt modelId="{8C92413B-3080-4CCE-964D-3DADC17F3C61}" type="pres">
      <dgm:prSet presAssocID="{5BDFEACF-7B69-4AF2-B1FF-F3F772CB4412}" presName="connectorText" presStyleLbl="sibTrans2D1" presStyleIdx="0" presStyleCnt="3"/>
      <dgm:spPr/>
    </dgm:pt>
    <dgm:pt modelId="{0BB48EC8-1EC6-46FD-BB75-EA9EDEB4EA36}" type="pres">
      <dgm:prSet presAssocID="{605F0185-1520-4674-8205-09FB63E6F9D8}" presName="node" presStyleLbl="node1" presStyleIdx="1" presStyleCnt="4" custScaleX="240158" custScaleY="358985" custLinFactNeighborX="-1407">
        <dgm:presLayoutVars>
          <dgm:bulletEnabled val="1"/>
        </dgm:presLayoutVars>
      </dgm:prSet>
      <dgm:spPr/>
    </dgm:pt>
    <dgm:pt modelId="{8133364E-EDA6-476D-B773-8D023C3CC1FA}" type="pres">
      <dgm:prSet presAssocID="{D5254E10-DBB5-40F9-9081-F9C78F4D5994}" presName="sibTrans" presStyleLbl="sibTrans2D1" presStyleIdx="1" presStyleCnt="3"/>
      <dgm:spPr/>
    </dgm:pt>
    <dgm:pt modelId="{1441F190-1F4D-4061-A543-27254AD3EAAB}" type="pres">
      <dgm:prSet presAssocID="{D5254E10-DBB5-40F9-9081-F9C78F4D5994}" presName="connectorText" presStyleLbl="sibTrans2D1" presStyleIdx="1" presStyleCnt="3"/>
      <dgm:spPr/>
    </dgm:pt>
    <dgm:pt modelId="{5ACB524D-561C-42A6-910F-9FC83D4CEDC8}" type="pres">
      <dgm:prSet presAssocID="{31F9E850-7A88-4232-A145-F33C2FABA21F}" presName="node" presStyleLbl="node1" presStyleIdx="2" presStyleCnt="4" custScaleX="240158" custScaleY="358985">
        <dgm:presLayoutVars>
          <dgm:bulletEnabled val="1"/>
        </dgm:presLayoutVars>
      </dgm:prSet>
      <dgm:spPr/>
    </dgm:pt>
    <dgm:pt modelId="{3172EE4D-4543-4919-BD55-24F31108DD04}" type="pres">
      <dgm:prSet presAssocID="{97056903-1A38-4B92-856A-506FF3FE10DD}" presName="sibTrans" presStyleLbl="sibTrans2D1" presStyleIdx="2" presStyleCnt="3"/>
      <dgm:spPr/>
    </dgm:pt>
    <dgm:pt modelId="{3D973594-C297-4206-AC45-063C3C75555B}" type="pres">
      <dgm:prSet presAssocID="{97056903-1A38-4B92-856A-506FF3FE10DD}" presName="connectorText" presStyleLbl="sibTrans2D1" presStyleIdx="2" presStyleCnt="3"/>
      <dgm:spPr/>
    </dgm:pt>
    <dgm:pt modelId="{BD719A50-A8B3-49F1-ADBA-6E5A3E129326}" type="pres">
      <dgm:prSet presAssocID="{5E5AF37C-466D-44A8-92A2-E72C2B2A745A}" presName="node" presStyleLbl="node1" presStyleIdx="3" presStyleCnt="4" custScaleX="240158" custScaleY="358985">
        <dgm:presLayoutVars>
          <dgm:bulletEnabled val="1"/>
        </dgm:presLayoutVars>
      </dgm:prSet>
      <dgm:spPr/>
    </dgm:pt>
  </dgm:ptLst>
  <dgm:cxnLst>
    <dgm:cxn modelId="{206CE901-7804-4160-B597-95416A1B8522}" type="presOf" srcId="{97056903-1A38-4B92-856A-506FF3FE10DD}" destId="{3172EE4D-4543-4919-BD55-24F31108DD04}" srcOrd="0" destOrd="0" presId="urn:microsoft.com/office/officeart/2005/8/layout/process1"/>
    <dgm:cxn modelId="{82AC775D-DD0B-4E43-A314-1F82E248B9F6}" type="presOf" srcId="{5BDFEACF-7B69-4AF2-B1FF-F3F772CB4412}" destId="{7EA5BF07-760E-4137-BF31-BF4BFE19FB65}" srcOrd="0" destOrd="0" presId="urn:microsoft.com/office/officeart/2005/8/layout/process1"/>
    <dgm:cxn modelId="{9AB2196C-B67F-4335-B0A3-AEC67F9B0844}" type="presOf" srcId="{2654F728-41A8-400E-BCF7-0C4D2E04D742}" destId="{7E8998B4-FA88-4E76-99AA-75140EC21177}" srcOrd="0" destOrd="0" presId="urn:microsoft.com/office/officeart/2005/8/layout/process1"/>
    <dgm:cxn modelId="{8ED1DE4D-C4C6-4C5B-A5E5-E25406C89365}" type="presOf" srcId="{31F9E850-7A88-4232-A145-F33C2FABA21F}" destId="{5ACB524D-561C-42A6-910F-9FC83D4CEDC8}" srcOrd="0" destOrd="0" presId="urn:microsoft.com/office/officeart/2005/8/layout/process1"/>
    <dgm:cxn modelId="{8F4A3652-5FBB-4F07-B77A-02049B7857F9}" srcId="{E64EFBB4-8511-40D6-9F6B-242E7FE9E5C7}" destId="{31F9E850-7A88-4232-A145-F33C2FABA21F}" srcOrd="2" destOrd="0" parTransId="{DE541F66-9E5B-437E-95AC-A956BEC84685}" sibTransId="{97056903-1A38-4B92-856A-506FF3FE10DD}"/>
    <dgm:cxn modelId="{7EA407A1-D884-48AC-986F-37C7EDEB097B}" type="presOf" srcId="{5E5AF37C-466D-44A8-92A2-E72C2B2A745A}" destId="{BD719A50-A8B3-49F1-ADBA-6E5A3E129326}" srcOrd="0" destOrd="0" presId="urn:microsoft.com/office/officeart/2005/8/layout/process1"/>
    <dgm:cxn modelId="{EBE79FA1-9B0A-4B9F-87BC-199DA080B66F}" srcId="{E64EFBB4-8511-40D6-9F6B-242E7FE9E5C7}" destId="{2654F728-41A8-400E-BCF7-0C4D2E04D742}" srcOrd="0" destOrd="0" parTransId="{9F388CA8-30A8-4879-9B54-B9C47446B88A}" sibTransId="{5BDFEACF-7B69-4AF2-B1FF-F3F772CB4412}"/>
    <dgm:cxn modelId="{A026BEB3-F29A-4CE6-B591-742E6A98AEFA}" type="presOf" srcId="{97056903-1A38-4B92-856A-506FF3FE10DD}" destId="{3D973594-C297-4206-AC45-063C3C75555B}" srcOrd="1" destOrd="0" presId="urn:microsoft.com/office/officeart/2005/8/layout/process1"/>
    <dgm:cxn modelId="{CCF565BE-2304-405A-8686-15073D9EA72C}" type="presOf" srcId="{605F0185-1520-4674-8205-09FB63E6F9D8}" destId="{0BB48EC8-1EC6-46FD-BB75-EA9EDEB4EA36}" srcOrd="0" destOrd="0" presId="urn:microsoft.com/office/officeart/2005/8/layout/process1"/>
    <dgm:cxn modelId="{F20FACC1-AD74-44EB-B404-84468E2848EE}" type="presOf" srcId="{5BDFEACF-7B69-4AF2-B1FF-F3F772CB4412}" destId="{8C92413B-3080-4CCE-964D-3DADC17F3C61}" srcOrd="1" destOrd="0" presId="urn:microsoft.com/office/officeart/2005/8/layout/process1"/>
    <dgm:cxn modelId="{1605C8CD-E2EC-4A78-BEC8-3736CFD976D3}" type="presOf" srcId="{D5254E10-DBB5-40F9-9081-F9C78F4D5994}" destId="{1441F190-1F4D-4061-A543-27254AD3EAAB}" srcOrd="1" destOrd="0" presId="urn:microsoft.com/office/officeart/2005/8/layout/process1"/>
    <dgm:cxn modelId="{1152DCE0-E0EC-4840-BE7F-01CE93C3FE74}" srcId="{E64EFBB4-8511-40D6-9F6B-242E7FE9E5C7}" destId="{605F0185-1520-4674-8205-09FB63E6F9D8}" srcOrd="1" destOrd="0" parTransId="{6CFF990A-F84C-4BF1-805D-B0734334F3BA}" sibTransId="{D5254E10-DBB5-40F9-9081-F9C78F4D5994}"/>
    <dgm:cxn modelId="{665E73EB-4395-4AAF-9F5B-0B6F0F19BB2C}" type="presOf" srcId="{E64EFBB4-8511-40D6-9F6B-242E7FE9E5C7}" destId="{1706B738-78E3-41D3-B88E-1BCC5C7DFA47}" srcOrd="0" destOrd="0" presId="urn:microsoft.com/office/officeart/2005/8/layout/process1"/>
    <dgm:cxn modelId="{2A9FEBFA-55A2-418A-8629-77E1906AEC50}" srcId="{E64EFBB4-8511-40D6-9F6B-242E7FE9E5C7}" destId="{5E5AF37C-466D-44A8-92A2-E72C2B2A745A}" srcOrd="3" destOrd="0" parTransId="{8D3B3A52-B212-4730-8AD4-3AC19A5E5485}" sibTransId="{B78E0214-FE4D-4F9F-84E5-84A4AB8F006A}"/>
    <dgm:cxn modelId="{AC810EFD-7D5B-482D-8253-C2B2CEF6FE35}" type="presOf" srcId="{D5254E10-DBB5-40F9-9081-F9C78F4D5994}" destId="{8133364E-EDA6-476D-B773-8D023C3CC1FA}" srcOrd="0" destOrd="0" presId="urn:microsoft.com/office/officeart/2005/8/layout/process1"/>
    <dgm:cxn modelId="{67355A36-8083-41A9-A365-65C6FF974D31}" type="presParOf" srcId="{1706B738-78E3-41D3-B88E-1BCC5C7DFA47}" destId="{7E8998B4-FA88-4E76-99AA-75140EC21177}" srcOrd="0" destOrd="0" presId="urn:microsoft.com/office/officeart/2005/8/layout/process1"/>
    <dgm:cxn modelId="{FCFD69D3-5756-4C43-9386-B7A6854B34D4}" type="presParOf" srcId="{1706B738-78E3-41D3-B88E-1BCC5C7DFA47}" destId="{7EA5BF07-760E-4137-BF31-BF4BFE19FB65}" srcOrd="1" destOrd="0" presId="urn:microsoft.com/office/officeart/2005/8/layout/process1"/>
    <dgm:cxn modelId="{3C7F82A8-B963-4FF8-9017-39F26A74B5EC}" type="presParOf" srcId="{7EA5BF07-760E-4137-BF31-BF4BFE19FB65}" destId="{8C92413B-3080-4CCE-964D-3DADC17F3C61}" srcOrd="0" destOrd="0" presId="urn:microsoft.com/office/officeart/2005/8/layout/process1"/>
    <dgm:cxn modelId="{050FE95C-3C24-4125-94E5-0DC9228013E6}" type="presParOf" srcId="{1706B738-78E3-41D3-B88E-1BCC5C7DFA47}" destId="{0BB48EC8-1EC6-46FD-BB75-EA9EDEB4EA36}" srcOrd="2" destOrd="0" presId="urn:microsoft.com/office/officeart/2005/8/layout/process1"/>
    <dgm:cxn modelId="{5802D4F6-FF98-40CF-AEB7-E40B68DC0116}" type="presParOf" srcId="{1706B738-78E3-41D3-B88E-1BCC5C7DFA47}" destId="{8133364E-EDA6-476D-B773-8D023C3CC1FA}" srcOrd="3" destOrd="0" presId="urn:microsoft.com/office/officeart/2005/8/layout/process1"/>
    <dgm:cxn modelId="{1FFECEF1-410A-46DC-AA4C-785DC9849A17}" type="presParOf" srcId="{8133364E-EDA6-476D-B773-8D023C3CC1FA}" destId="{1441F190-1F4D-4061-A543-27254AD3EAAB}" srcOrd="0" destOrd="0" presId="urn:microsoft.com/office/officeart/2005/8/layout/process1"/>
    <dgm:cxn modelId="{49963CEF-A80D-476D-8BED-28863EE8179F}" type="presParOf" srcId="{1706B738-78E3-41D3-B88E-1BCC5C7DFA47}" destId="{5ACB524D-561C-42A6-910F-9FC83D4CEDC8}" srcOrd="4" destOrd="0" presId="urn:microsoft.com/office/officeart/2005/8/layout/process1"/>
    <dgm:cxn modelId="{D6DD2DE6-546A-40AD-8D42-B73CD367C4CA}" type="presParOf" srcId="{1706B738-78E3-41D3-B88E-1BCC5C7DFA47}" destId="{3172EE4D-4543-4919-BD55-24F31108DD04}" srcOrd="5" destOrd="0" presId="urn:microsoft.com/office/officeart/2005/8/layout/process1"/>
    <dgm:cxn modelId="{4DAC2FAD-20E8-4CBF-BD6F-D4C93154D7E9}" type="presParOf" srcId="{3172EE4D-4543-4919-BD55-24F31108DD04}" destId="{3D973594-C297-4206-AC45-063C3C75555B}" srcOrd="0" destOrd="0" presId="urn:microsoft.com/office/officeart/2005/8/layout/process1"/>
    <dgm:cxn modelId="{5A17BD34-F134-4399-B4D9-CBA8102A1C5C}" type="presParOf" srcId="{1706B738-78E3-41D3-B88E-1BCC5C7DFA47}" destId="{BD719A50-A8B3-49F1-ADBA-6E5A3E12932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A35DC7-264C-46F4-AD7B-9092F856A884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8CCC0E5-7BAA-497E-8873-B65129125647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>
            <a:buFont typeface="Wingdings" panose="05000000000000000000" pitchFamily="2" charset="2"/>
            <a:buNone/>
          </a:pPr>
          <a:r>
            <a:rPr lang="pt-BR" sz="3600" b="1" dirty="0"/>
            <a:t>Impacto na Supply chain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O método de transporte é vital para as empresas globais que precisam movimentar grandes volumes entre continentes com custos reduzidos.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Redução de gastos com combustível.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Otimização de rotas marítimas e aéreas.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Equilíbrio entre estoques e demanda.</a:t>
          </a:r>
        </a:p>
      </dgm:t>
    </dgm:pt>
    <dgm:pt modelId="{309F485B-D6FB-49EC-BA8A-672B3E29D442}" type="parTrans" cxnId="{FF716BC6-6333-4CC0-8235-D5AD24C5CC55}">
      <dgm:prSet/>
      <dgm:spPr/>
      <dgm:t>
        <a:bodyPr/>
        <a:lstStyle/>
        <a:p>
          <a:endParaRPr lang="pt-BR"/>
        </a:p>
      </dgm:t>
    </dgm:pt>
    <dgm:pt modelId="{3BFB9E56-EFEB-498C-943C-2EC26EA9EA78}" type="sibTrans" cxnId="{FF716BC6-6333-4CC0-8235-D5AD24C5CC55}">
      <dgm:prSet/>
      <dgm:spPr/>
      <dgm:t>
        <a:bodyPr/>
        <a:lstStyle/>
        <a:p>
          <a:endParaRPr lang="pt-BR"/>
        </a:p>
      </dgm:t>
    </dgm:pt>
    <dgm:pt modelId="{9276F712-C1D0-400C-96EB-1B79D85CB7BD}" type="pres">
      <dgm:prSet presAssocID="{9AA35DC7-264C-46F4-AD7B-9092F856A884}" presName="diagram" presStyleCnt="0">
        <dgm:presLayoutVars>
          <dgm:dir/>
          <dgm:resizeHandles val="exact"/>
        </dgm:presLayoutVars>
      </dgm:prSet>
      <dgm:spPr/>
    </dgm:pt>
    <dgm:pt modelId="{FC7C9415-65B0-4EBA-89A7-E4E6BFE952D2}" type="pres">
      <dgm:prSet presAssocID="{F8CCC0E5-7BAA-497E-8873-B65129125647}" presName="node" presStyleLbl="node1" presStyleIdx="0" presStyleCnt="1" custScaleX="100098" custScaleY="122095" custLinFactNeighborX="-10945" custLinFactNeighborY="119">
        <dgm:presLayoutVars>
          <dgm:bulletEnabled val="1"/>
        </dgm:presLayoutVars>
      </dgm:prSet>
      <dgm:spPr/>
    </dgm:pt>
  </dgm:ptLst>
  <dgm:cxnLst>
    <dgm:cxn modelId="{604D6989-228E-4E0B-B1E2-8D6129203469}" type="presOf" srcId="{F8CCC0E5-7BAA-497E-8873-B65129125647}" destId="{FC7C9415-65B0-4EBA-89A7-E4E6BFE952D2}" srcOrd="0" destOrd="0" presId="urn:microsoft.com/office/officeart/2005/8/layout/default"/>
    <dgm:cxn modelId="{C9FB2193-C0F1-4892-B8A4-F77BE59416FA}" type="presOf" srcId="{9AA35DC7-264C-46F4-AD7B-9092F856A884}" destId="{9276F712-C1D0-400C-96EB-1B79D85CB7BD}" srcOrd="0" destOrd="0" presId="urn:microsoft.com/office/officeart/2005/8/layout/default"/>
    <dgm:cxn modelId="{FF716BC6-6333-4CC0-8235-D5AD24C5CC55}" srcId="{9AA35DC7-264C-46F4-AD7B-9092F856A884}" destId="{F8CCC0E5-7BAA-497E-8873-B65129125647}" srcOrd="0" destOrd="0" parTransId="{309F485B-D6FB-49EC-BA8A-672B3E29D442}" sibTransId="{3BFB9E56-EFEB-498C-943C-2EC26EA9EA78}"/>
    <dgm:cxn modelId="{ED5AEA52-97E9-447B-8A5D-54BCB3EE5972}" type="presParOf" srcId="{9276F712-C1D0-400C-96EB-1B79D85CB7BD}" destId="{FC7C9415-65B0-4EBA-89A7-E4E6BFE952D2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896083" y="176530"/>
          <a:ext cx="2161687" cy="2161687"/>
        </a:xfrm>
        <a:prstGeom prst="ellipse">
          <a:avLst/>
        </a:prstGeom>
        <a:gradFill flip="none" rotWithShape="0">
          <a:gsLst>
            <a:gs pos="40000">
              <a:srgbClr val="002060"/>
            </a:gs>
            <a:gs pos="88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  <a:tileRect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356762" y="637194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170903" y="2784258"/>
          <a:ext cx="3474703" cy="1178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noProof="1">
              <a:solidFill>
                <a:schemeClr val="bg1"/>
              </a:solidFill>
            </a:rPr>
            <a:t>Definição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É um tipo especial de problema de programação linear </a:t>
          </a:r>
          <a:r>
            <a:rPr lang="pt-BR" sz="2000" b="1" kern="1200" cap="none" noProof="1">
              <a:solidFill>
                <a:schemeClr val="bg1"/>
              </a:solidFill>
            </a:rPr>
            <a:t>(PPL) </a:t>
          </a:r>
          <a:r>
            <a:rPr lang="pt-BR" sz="2000" kern="1200" cap="none" noProof="1">
              <a:solidFill>
                <a:schemeClr val="bg1"/>
              </a:solidFill>
            </a:rPr>
            <a:t>que busca minimizar o custo de distribuição de bens de um conjunto de origens para destinos</a:t>
          </a:r>
        </a:p>
      </dsp:txBody>
      <dsp:txXfrm>
        <a:off x="170903" y="2784258"/>
        <a:ext cx="3474703" cy="1178045"/>
      </dsp:txXfrm>
    </dsp:sp>
    <dsp:sp modelId="{BCD8CDD9-0C56-4401-ADB1-8B48DAB2C96F}">
      <dsp:nvSpPr>
        <dsp:cNvPr id="0" name=""/>
        <dsp:cNvSpPr/>
      </dsp:nvSpPr>
      <dsp:spPr>
        <a:xfrm>
          <a:off x="4934482" y="194409"/>
          <a:ext cx="2161687" cy="2161687"/>
        </a:xfrm>
        <a:prstGeom prst="ellipse">
          <a:avLst/>
        </a:prstGeom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5438808" y="693090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4457476" y="2801975"/>
          <a:ext cx="3277047" cy="1721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noProof="1">
              <a:solidFill>
                <a:schemeClr val="bg1"/>
              </a:solidFill>
            </a:rPr>
            <a:t>Hitchcock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Historicamente conhecido como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Problema de hitchcock (1941), foca no fluxo eficiente em redes de logística e suprimentos</a:t>
          </a:r>
        </a:p>
      </dsp:txBody>
      <dsp:txXfrm>
        <a:off x="4457476" y="2801975"/>
        <a:ext cx="3277047" cy="1721916"/>
      </dsp:txXfrm>
    </dsp:sp>
    <dsp:sp modelId="{FF93E135-77D6-48A0-8871-9BC93D705D06}">
      <dsp:nvSpPr>
        <dsp:cNvPr id="0" name=""/>
        <dsp:cNvSpPr/>
      </dsp:nvSpPr>
      <dsp:spPr>
        <a:xfrm>
          <a:off x="9170091" y="275020"/>
          <a:ext cx="2161687" cy="2161687"/>
        </a:xfrm>
        <a:prstGeom prst="ellipse">
          <a:avLst/>
        </a:prstGeom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9630782" y="735793"/>
          <a:ext cx="1240312" cy="1240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8758118" y="2837820"/>
          <a:ext cx="3057370" cy="1583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noProof="1">
              <a:solidFill>
                <a:schemeClr val="bg1"/>
              </a:solidFill>
            </a:rPr>
            <a:t>Objetivo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Determinar a quantidade ótima a ser enviada de cada origem para cada destino, respeitando limites de oferta e atendendo à demanda</a:t>
          </a:r>
        </a:p>
      </dsp:txBody>
      <dsp:txXfrm>
        <a:off x="8758118" y="2837820"/>
        <a:ext cx="3057370" cy="15836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C799D-4D70-465C-8FDF-1A26C66432C3}">
      <dsp:nvSpPr>
        <dsp:cNvPr id="0" name=""/>
        <dsp:cNvSpPr/>
      </dsp:nvSpPr>
      <dsp:spPr>
        <a:xfrm rot="10800000">
          <a:off x="1330949" y="1361"/>
          <a:ext cx="4339993" cy="951174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Origens (m) </a:t>
          </a:r>
          <a:r>
            <a:rPr lang="pt-BR" sz="1600" b="0" kern="1200" dirty="0"/>
            <a:t>“A oferta”: Fábricas ou centros de distribuição que possuem uma quantidade limite de produtos disponíveis para envio.</a:t>
          </a:r>
        </a:p>
      </dsp:txBody>
      <dsp:txXfrm rot="10800000">
        <a:off x="1568742" y="1361"/>
        <a:ext cx="4102200" cy="951174"/>
      </dsp:txXfrm>
    </dsp:sp>
    <dsp:sp modelId="{DD044B81-56A0-4B69-8A41-507FCD3A6458}">
      <dsp:nvSpPr>
        <dsp:cNvPr id="0" name=""/>
        <dsp:cNvSpPr/>
      </dsp:nvSpPr>
      <dsp:spPr>
        <a:xfrm>
          <a:off x="885876" y="21935"/>
          <a:ext cx="951174" cy="951174"/>
        </a:xfrm>
        <a:prstGeom prst="ellipse">
          <a:avLst/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3EFACDD-0A4F-4ED9-A48D-B3AC844D7AF2}">
      <dsp:nvSpPr>
        <dsp:cNvPr id="0" name=""/>
        <dsp:cNvSpPr/>
      </dsp:nvSpPr>
      <dsp:spPr>
        <a:xfrm rot="10800000">
          <a:off x="1330949" y="1236467"/>
          <a:ext cx="4339993" cy="951174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Destinos (n) </a:t>
          </a:r>
          <a:r>
            <a:rPr lang="pt-BR" sz="1600" b="0" kern="1200" dirty="0"/>
            <a:t>“A demanda”: lojas ou mercados que precisam receber uma quantidade específica da mercadoria</a:t>
          </a:r>
        </a:p>
      </dsp:txBody>
      <dsp:txXfrm rot="10800000">
        <a:off x="1568742" y="1236467"/>
        <a:ext cx="4102200" cy="951174"/>
      </dsp:txXfrm>
    </dsp:sp>
    <dsp:sp modelId="{F24B6767-10BD-4DFB-97B6-C4AF31ED1344}">
      <dsp:nvSpPr>
        <dsp:cNvPr id="0" name=""/>
        <dsp:cNvSpPr/>
      </dsp:nvSpPr>
      <dsp:spPr>
        <a:xfrm>
          <a:off x="855362" y="1236467"/>
          <a:ext cx="951174" cy="95117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67ECF6F-D14B-4384-AE9C-B28B7A610E5A}">
      <dsp:nvSpPr>
        <dsp:cNvPr id="0" name=""/>
        <dsp:cNvSpPr/>
      </dsp:nvSpPr>
      <dsp:spPr>
        <a:xfrm rot="10800000">
          <a:off x="1330949" y="2471574"/>
          <a:ext cx="4339993" cy="1237962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Rotas e os Custos: </a:t>
          </a:r>
          <a:r>
            <a:rPr lang="pt-BR" sz="1600" kern="1200" dirty="0"/>
            <a:t>Os caminhos possíveis que ligam as origens aos destinos. Cada rota tem um custo unitário, que pode ser o valor do frete, a distância ou o tempo gasto</a:t>
          </a:r>
          <a:r>
            <a:rPr lang="pt-BR" sz="1600" b="1" kern="1200" dirty="0"/>
            <a:t>.</a:t>
          </a:r>
          <a:endParaRPr lang="pt-BR" sz="2800" i="1" kern="1200" dirty="0"/>
        </a:p>
      </dsp:txBody>
      <dsp:txXfrm rot="10800000">
        <a:off x="1640439" y="2471574"/>
        <a:ext cx="4030503" cy="1237962"/>
      </dsp:txXfrm>
    </dsp:sp>
    <dsp:sp modelId="{C4F5FCAC-83F2-4F96-9CD4-BDD39D2EF3AE}">
      <dsp:nvSpPr>
        <dsp:cNvPr id="0" name=""/>
        <dsp:cNvSpPr/>
      </dsp:nvSpPr>
      <dsp:spPr>
        <a:xfrm>
          <a:off x="855362" y="2614968"/>
          <a:ext cx="951174" cy="95117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E12D77A-43B1-4F21-937C-4068A328493C}">
      <dsp:nvSpPr>
        <dsp:cNvPr id="0" name=""/>
        <dsp:cNvSpPr/>
      </dsp:nvSpPr>
      <dsp:spPr>
        <a:xfrm rot="10800000">
          <a:off x="1330949" y="3993469"/>
          <a:ext cx="4339993" cy="951174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Objetivo central: </a:t>
          </a:r>
          <a:r>
            <a:rPr lang="pt-BR" sz="1600" b="0" kern="1200" dirty="0"/>
            <a:t>Atender  a toda demanda dos destinos, sem ultrapassar o limite de oferta das origens, gastando o menor valor total possível</a:t>
          </a:r>
          <a:r>
            <a:rPr lang="pt-BR" sz="1600" b="1" kern="1200" dirty="0"/>
            <a:t>.</a:t>
          </a:r>
        </a:p>
      </dsp:txBody>
      <dsp:txXfrm rot="10800000">
        <a:off x="1568742" y="3993469"/>
        <a:ext cx="4102200" cy="951174"/>
      </dsp:txXfrm>
    </dsp:sp>
    <dsp:sp modelId="{2FCC20C6-D851-47EE-826C-2426FF770520}">
      <dsp:nvSpPr>
        <dsp:cNvPr id="0" name=""/>
        <dsp:cNvSpPr/>
      </dsp:nvSpPr>
      <dsp:spPr>
        <a:xfrm>
          <a:off x="855362" y="3993469"/>
          <a:ext cx="951174" cy="95117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3716C-3BD3-461E-A12F-8D7E6D09DB36}">
      <dsp:nvSpPr>
        <dsp:cNvPr id="0" name=""/>
        <dsp:cNvSpPr/>
      </dsp:nvSpPr>
      <dsp:spPr>
        <a:xfrm>
          <a:off x="10137" y="2229"/>
          <a:ext cx="4618073" cy="4346512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Problema Balanceado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b="1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Ocorre quando a oferta total é exatamente igual à demanda total. É o cenário ideal para aplicação direta dos algoritmos.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= ∑ Demanda</a:t>
          </a:r>
          <a:endParaRPr lang="pt-BR" sz="2800" b="1" kern="1200" dirty="0"/>
        </a:p>
      </dsp:txBody>
      <dsp:txXfrm>
        <a:off x="10137" y="2229"/>
        <a:ext cx="4618073" cy="4346512"/>
      </dsp:txXfrm>
    </dsp:sp>
    <dsp:sp modelId="{453A5022-E555-4B96-91B1-4187E37D6665}">
      <dsp:nvSpPr>
        <dsp:cNvPr id="0" name=""/>
        <dsp:cNvSpPr/>
      </dsp:nvSpPr>
      <dsp:spPr>
        <a:xfrm>
          <a:off x="5101979" y="0"/>
          <a:ext cx="4618073" cy="4342051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b="1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Problema não Balanceado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b="1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Quando há excesso de oferta ou demanda. Resolve-se adicionando uma origem ou destino “fictício” (dummy) com custo zero.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≠ ∑ Demanda</a:t>
          </a:r>
          <a:endParaRPr lang="pt-BR" sz="280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</dsp:txBody>
      <dsp:txXfrm>
        <a:off x="5101979" y="0"/>
        <a:ext cx="4618073" cy="43420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3716C-3BD3-461E-A12F-8D7E6D09DB36}">
      <dsp:nvSpPr>
        <dsp:cNvPr id="0" name=""/>
        <dsp:cNvSpPr/>
      </dsp:nvSpPr>
      <dsp:spPr>
        <a:xfrm>
          <a:off x="14521" y="3"/>
          <a:ext cx="3028089" cy="4350964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noProof="1"/>
            <a:t>Canto Noroeste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noProof="1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noProof="1"/>
            <a:t>Método puramente mecânico que começa na célula superior esquerda da matriz. É simples, mas raramente fornece um custo baixo.</a:t>
          </a:r>
          <a:endParaRPr lang="pt-BR" sz="2400" kern="1200" dirty="0"/>
        </a:p>
      </dsp:txBody>
      <dsp:txXfrm>
        <a:off x="14521" y="3"/>
        <a:ext cx="3028089" cy="4350964"/>
      </dsp:txXfrm>
    </dsp:sp>
    <dsp:sp modelId="{453A5022-E555-4B96-91B1-4187E37D6665}">
      <dsp:nvSpPr>
        <dsp:cNvPr id="0" name=""/>
        <dsp:cNvSpPr/>
      </dsp:nvSpPr>
      <dsp:spPr>
        <a:xfrm>
          <a:off x="3364951" y="6801"/>
          <a:ext cx="3028089" cy="4344169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noProof="1"/>
            <a:t>Menor Custo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noProof="1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noProof="1"/>
            <a:t>Aloca a maior quantidade possível na célula de menor custo unitário. Tende a ser muito superior ao método do canto noroeste.</a:t>
          </a:r>
          <a:endParaRPr lang="pt-BR" sz="2400" kern="1200" dirty="0"/>
        </a:p>
      </dsp:txBody>
      <dsp:txXfrm>
        <a:off x="3364951" y="6801"/>
        <a:ext cx="3028089" cy="4344169"/>
      </dsp:txXfrm>
    </dsp:sp>
    <dsp:sp modelId="{1AE8DCAC-FFB2-4EA5-A6D1-4803B89B488F}">
      <dsp:nvSpPr>
        <dsp:cNvPr id="0" name=""/>
        <dsp:cNvSpPr/>
      </dsp:nvSpPr>
      <dsp:spPr>
        <a:xfrm>
          <a:off x="6676984" y="6798"/>
          <a:ext cx="3028089" cy="4337374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200" b="1" kern="1200" noProof="1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noProof="1"/>
            <a:t>“V” </a:t>
          </a:r>
          <a:r>
            <a:rPr lang="pt-BR" sz="2400" b="1" kern="1200" noProof="1"/>
            <a:t>Vogel (vam)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noProof="1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noProof="1"/>
            <a:t>Baseia-se em “penalidades” por não escolher a rota mais barata. É o método mais sofisticado e geralmente fornece a melhor SBI.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 noProof="1"/>
        </a:p>
      </dsp:txBody>
      <dsp:txXfrm>
        <a:off x="6676984" y="6798"/>
        <a:ext cx="3028089" cy="43373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998B4-FA88-4E76-99AA-75140EC21177}">
      <dsp:nvSpPr>
        <dsp:cNvPr id="0" name=""/>
        <dsp:cNvSpPr/>
      </dsp:nvSpPr>
      <dsp:spPr>
        <a:xfrm>
          <a:off x="169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1. Modelagem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Definir matriz de custo, oferta e demanda.</a:t>
          </a:r>
        </a:p>
      </dsp:txBody>
      <dsp:txXfrm>
        <a:off x="63372" y="63203"/>
        <a:ext cx="2031487" cy="3896319"/>
      </dsp:txXfrm>
    </dsp:sp>
    <dsp:sp modelId="{7EA5BF07-760E-4137-BF31-BF4BFE19FB65}">
      <dsp:nvSpPr>
        <dsp:cNvPr id="0" name=""/>
        <dsp:cNvSpPr/>
      </dsp:nvSpPr>
      <dsp:spPr>
        <a:xfrm>
          <a:off x="2247915" y="1899944"/>
          <a:ext cx="190488" cy="2228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/>
        </a:p>
      </dsp:txBody>
      <dsp:txXfrm>
        <a:off x="2247915" y="1944511"/>
        <a:ext cx="133342" cy="133701"/>
      </dsp:txXfrm>
    </dsp:sp>
    <dsp:sp modelId="{0BB48EC8-1EC6-46FD-BB75-EA9EDEB4EA36}">
      <dsp:nvSpPr>
        <dsp:cNvPr id="0" name=""/>
        <dsp:cNvSpPr/>
      </dsp:nvSpPr>
      <dsp:spPr>
        <a:xfrm>
          <a:off x="2517474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2. SBI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Aplicar noroeste, Menor custo ou Vogel.</a:t>
          </a:r>
        </a:p>
      </dsp:txBody>
      <dsp:txXfrm>
        <a:off x="2580677" y="63203"/>
        <a:ext cx="2031487" cy="3896319"/>
      </dsp:txXfrm>
    </dsp:sp>
    <dsp:sp modelId="{8133364E-EDA6-476D-B773-8D023C3CC1FA}">
      <dsp:nvSpPr>
        <dsp:cNvPr id="0" name=""/>
        <dsp:cNvSpPr/>
      </dsp:nvSpPr>
      <dsp:spPr>
        <a:xfrm>
          <a:off x="4766485" y="1899944"/>
          <a:ext cx="193168" cy="2228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/>
        </a:p>
      </dsp:txBody>
      <dsp:txXfrm>
        <a:off x="4766485" y="1944511"/>
        <a:ext cx="135218" cy="133701"/>
      </dsp:txXfrm>
    </dsp:sp>
    <dsp:sp modelId="{5ACB524D-561C-42A6-910F-9FC83D4CEDC8}">
      <dsp:nvSpPr>
        <dsp:cNvPr id="0" name=""/>
        <dsp:cNvSpPr/>
      </dsp:nvSpPr>
      <dsp:spPr>
        <a:xfrm>
          <a:off x="5039837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3. Teste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Verificar Otimalidade pelo método MODI.</a:t>
          </a:r>
        </a:p>
      </dsp:txBody>
      <dsp:txXfrm>
        <a:off x="5103040" y="63203"/>
        <a:ext cx="2031487" cy="3896319"/>
      </dsp:txXfrm>
    </dsp:sp>
    <dsp:sp modelId="{3172EE4D-4543-4919-BD55-24F31108DD04}">
      <dsp:nvSpPr>
        <dsp:cNvPr id="0" name=""/>
        <dsp:cNvSpPr/>
      </dsp:nvSpPr>
      <dsp:spPr>
        <a:xfrm>
          <a:off x="7287583" y="1899944"/>
          <a:ext cx="190488" cy="2228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/>
        </a:p>
      </dsp:txBody>
      <dsp:txXfrm>
        <a:off x="7287583" y="1944511"/>
        <a:ext cx="133342" cy="133701"/>
      </dsp:txXfrm>
    </dsp:sp>
    <dsp:sp modelId="{BD719A50-A8B3-49F1-ADBA-6E5A3E129326}">
      <dsp:nvSpPr>
        <dsp:cNvPr id="0" name=""/>
        <dsp:cNvSpPr/>
      </dsp:nvSpPr>
      <dsp:spPr>
        <a:xfrm>
          <a:off x="7557142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4. Melhora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Ajustar rotas até o custo ser o mínimo absoluto.</a:t>
          </a:r>
        </a:p>
      </dsp:txBody>
      <dsp:txXfrm>
        <a:off x="7620345" y="63203"/>
        <a:ext cx="2031487" cy="38963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C9415-65B0-4EBA-89A7-E4E6BFE952D2}">
      <dsp:nvSpPr>
        <dsp:cNvPr id="0" name=""/>
        <dsp:cNvSpPr/>
      </dsp:nvSpPr>
      <dsp:spPr>
        <a:xfrm>
          <a:off x="0" y="97891"/>
          <a:ext cx="6088578" cy="4455943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3600" b="1" kern="1200" dirty="0"/>
            <a:t>Impacto na Supply chain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O método de transporte é vital para as empresas globais que precisam movimentar grandes volumes entre continentes com custos reduzidos.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Redução de gastos com combustível.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Otimização de rotas marítimas e aéreas.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Equilíbrio entre estoques e demanda.</a:t>
          </a:r>
        </a:p>
      </dsp:txBody>
      <dsp:txXfrm>
        <a:off x="0" y="97891"/>
        <a:ext cx="6088578" cy="4455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Lista de Rótulos de Círculos de Ícone"/>
  <dgm:desc val="Use para mostrar blocos de informações não sequenciais ou agrupados, acompanhados por elementos visuais relacionados. Funciona melhor com ícones ou pequenas imagens com legendas de texto curto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3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4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1483702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5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133189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132195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12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79587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02/07/2026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2yghbees9788u.cloudfront.net/avozdaindustria/2022/11/A-tomada-de-deciso-na-indstria-e-os-mtodos-da-Pesquisa-Operacional.png" TargetMode="External"/><Relationship Id="rId7" Type="http://schemas.openxmlformats.org/officeDocument/2006/relationships/image" Target="../media/image11.jpg"/><Relationship Id="rId2" Type="http://schemas.openxmlformats.org/officeDocument/2006/relationships/hyperlink" Target="https://en.wikipedia.org/w/index.php?curid=3214142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actransterminais.com.br/wp-content/uploads/2023/10/Mactrans-Armazem-Geral-Transporte-de-Cargas-e-Logistica-em-Paranagua-mobile-5-min.png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thumbs.dreamstime.com/b/encomendas-de-conceito-transporte-e-entrega-%C3%A0-escala-mundial-com-renderiza%C3%A7%C3%A3o-n%C3%ADvel-em-torno-d-globo-terrestre-tornando-se-192937465.jpg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www.fm2s.com.br/storage/blog/images/pesquisa-operacional.webp" TargetMode="External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Imagem 6">
            <a:extLst>
              <a:ext uri="{FF2B5EF4-FFF2-40B4-BE49-F238E27FC236}">
                <a16:creationId xmlns:a16="http://schemas.microsoft.com/office/drawing/2014/main" id="{E9C1C562-6CB2-4AD9-9BB1-5CD19714C26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1245" b="31245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90F734A-5B38-4174-A112-98231CCB87EF}"/>
              </a:ext>
            </a:extLst>
          </p:cNvPr>
          <p:cNvSpPr/>
          <p:nvPr/>
        </p:nvSpPr>
        <p:spPr>
          <a:xfrm>
            <a:off x="133546" y="2702859"/>
            <a:ext cx="11924907" cy="1452282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noProof="1">
                <a:solidFill>
                  <a:srgbClr val="FFFFFF"/>
                </a:solidFill>
              </a:rPr>
              <a:t>Problema de transporte em pesquisa operacional</a:t>
            </a:r>
          </a:p>
        </p:txBody>
      </p:sp>
    </p:spTree>
    <p:extLst>
      <p:ext uri="{BB962C8B-B14F-4D97-AF65-F5344CB8AC3E}">
        <p14:creationId xmlns:p14="http://schemas.microsoft.com/office/powerpoint/2010/main" val="118148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393"/>
            <a:ext cx="12188824" cy="977489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4000" dirty="0">
                <a:solidFill>
                  <a:schemeClr val="bg1"/>
                </a:solidFill>
              </a:rPr>
            </a:b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b="1" noProof="1">
                <a:solidFill>
                  <a:srgbClr val="FFFFFF"/>
                </a:solidFill>
              </a:rPr>
              <a:t>Conceitos, Métodos e Otimização em Pesquisa operacional</a:t>
            </a:r>
            <a:br>
              <a:rPr lang="pt-BR" sz="8000" noProof="1">
                <a:solidFill>
                  <a:srgbClr val="FFFFFF"/>
                </a:solidFill>
              </a:rPr>
            </a:br>
            <a:endParaRPr lang="pt-BR" sz="8000" dirty="0">
              <a:solidFill>
                <a:schemeClr val="bg1"/>
              </a:solidFill>
            </a:endParaRPr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8B107052-CB03-4416-89D4-5C2829F4AC9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897" b="13897"/>
          <a:stretch>
            <a:fillRect/>
          </a:stretch>
        </p:blipFill>
        <p:spPr>
          <a:xfrm>
            <a:off x="0" y="1404594"/>
            <a:ext cx="12191999" cy="4044099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DBB2878-1D71-4A83-93CE-84FEBCCFF1D9}"/>
              </a:ext>
            </a:extLst>
          </p:cNvPr>
          <p:cNvSpPr/>
          <p:nvPr/>
        </p:nvSpPr>
        <p:spPr>
          <a:xfrm>
            <a:off x="113121" y="5606118"/>
            <a:ext cx="63961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Curso:</a:t>
            </a:r>
            <a:r>
              <a:rPr lang="pt-BR" dirty="0">
                <a:solidFill>
                  <a:schemeClr val="bg1"/>
                </a:solidFill>
              </a:rPr>
              <a:t> Gestão da Produção Industrial 2° Semestre</a:t>
            </a:r>
          </a:p>
          <a:p>
            <a:r>
              <a:rPr lang="pt-BR" b="1" dirty="0">
                <a:solidFill>
                  <a:schemeClr val="bg1"/>
                </a:solidFill>
              </a:rPr>
              <a:t>Disciplina:</a:t>
            </a:r>
            <a:r>
              <a:rPr lang="pt-BR" dirty="0">
                <a:solidFill>
                  <a:schemeClr val="bg1"/>
                </a:solidFill>
              </a:rPr>
              <a:t> Pesquisa Operacional</a:t>
            </a:r>
          </a:p>
          <a:p>
            <a:r>
              <a:rPr lang="pt-BR" b="1" dirty="0">
                <a:solidFill>
                  <a:schemeClr val="bg1"/>
                </a:solidFill>
              </a:rPr>
              <a:t>Professor:</a:t>
            </a:r>
            <a:r>
              <a:rPr lang="pt-BR" dirty="0">
                <a:solidFill>
                  <a:schemeClr val="bg1"/>
                </a:solidFill>
              </a:rPr>
              <a:t> Carlos Eduardo Bastos</a:t>
            </a:r>
          </a:p>
          <a:p>
            <a:r>
              <a:rPr lang="pt-BR" b="1" dirty="0">
                <a:solidFill>
                  <a:schemeClr val="bg1"/>
                </a:solidFill>
              </a:rPr>
              <a:t>Alunos:</a:t>
            </a:r>
            <a:r>
              <a:rPr lang="pt-BR" dirty="0">
                <a:solidFill>
                  <a:schemeClr val="bg1"/>
                </a:solidFill>
              </a:rPr>
              <a:t> José Sérgio dos Santos | Anderson Santos</a:t>
            </a:r>
          </a:p>
        </p:txBody>
      </p:sp>
    </p:spTree>
    <p:extLst>
      <p:ext uri="{BB962C8B-B14F-4D97-AF65-F5344CB8AC3E}">
        <p14:creationId xmlns:p14="http://schemas.microsoft.com/office/powerpoint/2010/main" val="115897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|O Desafio da Eficiência Logística</a:t>
            </a:r>
            <a:br>
              <a:rPr lang="pt-BR" noProof="1"/>
            </a:br>
            <a:endParaRPr lang="pt-BR" noProof="1"/>
          </a:p>
        </p:txBody>
      </p:sp>
      <p:pic>
        <p:nvPicPr>
          <p:cNvPr id="6" name="Google Shape;98;p14" descr="image.png">
            <a:extLst>
              <a:ext uri="{FF2B5EF4-FFF2-40B4-BE49-F238E27FC236}">
                <a16:creationId xmlns:a16="http://schemas.microsoft.com/office/drawing/2014/main" id="{06D32ED2-3FF1-4614-9710-8B4235FA1E00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86687" y="2084832"/>
            <a:ext cx="4381185" cy="40227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56416EC-C509-4E55-B22C-84731179B7B7}"/>
              </a:ext>
            </a:extLst>
          </p:cNvPr>
          <p:cNvSpPr/>
          <p:nvPr/>
        </p:nvSpPr>
        <p:spPr>
          <a:xfrm>
            <a:off x="507806" y="1525812"/>
            <a:ext cx="6096000" cy="514076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O problema de transporte não é apenas matemático; é a espinha dorsal da lucratividade industrial. Em um cenário global, cada centavo economizado em rotas reflete em margem de lucro. </a:t>
            </a:r>
          </a:p>
          <a:p>
            <a:pPr marL="285750" lvl="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Otimização de fluxos de mercadorias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Redução de custos de frete e armazenagem.</a:t>
            </a:r>
            <a:endParaRPr lang="pt-BR" sz="26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Garantia de atendimento da demanda.</a:t>
            </a:r>
            <a:endParaRPr lang="pt-BR" sz="26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Sustentabilidade operacional e de recursos.</a:t>
            </a:r>
            <a:endParaRPr lang="pt-BR" sz="2600" dirty="0">
              <a:solidFill>
                <a:schemeClr val="bg1"/>
              </a:solidFill>
              <a:latin typeface="Lato"/>
              <a:sym typeface="Lato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25C90D-15AC-4BA6-B81B-E06F6789A4AD}"/>
              </a:ext>
            </a:extLst>
          </p:cNvPr>
          <p:cNvSpPr/>
          <p:nvPr/>
        </p:nvSpPr>
        <p:spPr>
          <a:xfrm>
            <a:off x="507806" y="4959013"/>
            <a:ext cx="248786" cy="482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|O que é o problema de transporte?</a:t>
            </a:r>
          </a:p>
        </p:txBody>
      </p:sp>
      <p:graphicFrame>
        <p:nvGraphicFramePr>
          <p:cNvPr id="5" name="Espaço Reservado para Conteúdo 2" descr="Espaço reservado para elemento gráfico SmartArt 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268282"/>
              </p:ext>
            </p:extLst>
          </p:nvPr>
        </p:nvGraphicFramePr>
        <p:xfrm>
          <a:off x="0" y="1621410"/>
          <a:ext cx="12192000" cy="523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431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|contexto histórico</a:t>
            </a:r>
            <a:br>
              <a:rPr lang="pt-BR" noProof="1"/>
            </a:br>
            <a:endParaRPr lang="pt-BR" noProof="1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6416EC-C509-4E55-B22C-84731179B7B7}"/>
              </a:ext>
            </a:extLst>
          </p:cNvPr>
          <p:cNvSpPr/>
          <p:nvPr/>
        </p:nvSpPr>
        <p:spPr>
          <a:xfrm>
            <a:off x="534700" y="1416419"/>
            <a:ext cx="6096000" cy="505093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sz="3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Quem foi Frank L. Hitchcock?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Publicou a Ideia original em 1941.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Seu trabalho é um dos marcos iniciais da Programação Linear.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Formulou o problema antes da Segunda Guerra Mundial (período em que popularizou o termo “Pesquisa operacional”).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Sua formulação antecede a invenção do famoso “Método Simplex” por George Dantzig (1947).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25C90D-15AC-4BA6-B81B-E06F6789A4AD}"/>
              </a:ext>
            </a:extLst>
          </p:cNvPr>
          <p:cNvSpPr/>
          <p:nvPr/>
        </p:nvSpPr>
        <p:spPr>
          <a:xfrm>
            <a:off x="534700" y="4959013"/>
            <a:ext cx="248786" cy="482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pt-BR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8A15B6A-EB3D-4925-9A82-0678C6ACB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20129" y="1335024"/>
            <a:ext cx="3877236" cy="45189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BBDCEF31-9F74-47CF-966A-5D3D157D8D44}"/>
              </a:ext>
            </a:extLst>
          </p:cNvPr>
          <p:cNvSpPr/>
          <p:nvPr/>
        </p:nvSpPr>
        <p:spPr>
          <a:xfrm>
            <a:off x="7120129" y="5853953"/>
            <a:ext cx="4100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+mj-lt"/>
              </a:rPr>
              <a:t>Frank Lauren Hitchcock (1875–1957)</a:t>
            </a:r>
          </a:p>
        </p:txBody>
      </p:sp>
    </p:spTree>
    <p:extLst>
      <p:ext uri="{BB962C8B-B14F-4D97-AF65-F5344CB8AC3E}">
        <p14:creationId xmlns:p14="http://schemas.microsoft.com/office/powerpoint/2010/main" val="321928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7858-096D-4617-9FE3-CCD65B6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585216"/>
            <a:ext cx="10692991" cy="1105039"/>
          </a:xfrm>
        </p:spPr>
        <p:txBody>
          <a:bodyPr/>
          <a:lstStyle/>
          <a:p>
            <a:r>
              <a:rPr lang="pt-BR" dirty="0"/>
              <a:t>|Elementos fundamentais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A15C6EAB-F40D-480E-B324-87B760CAA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786637"/>
              </p:ext>
            </p:extLst>
          </p:nvPr>
        </p:nvGraphicFramePr>
        <p:xfrm>
          <a:off x="824753" y="1568824"/>
          <a:ext cx="6526306" cy="4946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m 10">
            <a:extLst>
              <a:ext uri="{FF2B5EF4-FFF2-40B4-BE49-F238E27FC236}">
                <a16:creationId xmlns:a16="http://schemas.microsoft.com/office/drawing/2014/main" id="{3EE87EEB-DFF1-4DE8-8844-26DE226422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3459" y="1766046"/>
            <a:ext cx="4014285" cy="45067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764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7858-096D-4617-9FE3-CCD65B6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585216"/>
            <a:ext cx="10692991" cy="1105039"/>
          </a:xfrm>
        </p:spPr>
        <p:txBody>
          <a:bodyPr/>
          <a:lstStyle/>
          <a:p>
            <a:r>
              <a:rPr lang="pt-BR" dirty="0"/>
              <a:t>|O modelo matemático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3766798-A68A-421B-943D-AF47038ADD8F}"/>
              </a:ext>
            </a:extLst>
          </p:cNvPr>
          <p:cNvGrpSpPr/>
          <p:nvPr/>
        </p:nvGrpSpPr>
        <p:grpSpPr>
          <a:xfrm>
            <a:off x="410611" y="1603792"/>
            <a:ext cx="11370777" cy="5157950"/>
            <a:chOff x="0" y="-18732"/>
            <a:chExt cx="5421744" cy="1117469"/>
          </a:xfrm>
          <a:scene3d>
            <a:camera prst="orthographicFront"/>
            <a:lightRig rig="flat" dir="t"/>
          </a:scene3d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083D64C3-6E0C-4F41-B8FA-742EEDE3CC4D}"/>
                </a:ext>
              </a:extLst>
            </p:cNvPr>
            <p:cNvSpPr/>
            <p:nvPr/>
          </p:nvSpPr>
          <p:spPr>
            <a:xfrm>
              <a:off x="0" y="0"/>
              <a:ext cx="5421744" cy="1080005"/>
            </a:xfrm>
            <a:prstGeom prst="roundRect">
              <a:avLst/>
            </a:prstGeom>
            <a:gradFill rotWithShape="0">
              <a:gsLst>
                <a:gs pos="40000">
                  <a:srgbClr val="002060"/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tint val="90000"/>
                    <a:shade val="100000"/>
                    <a:satMod val="150000"/>
                    <a:lumMod val="100000"/>
                  </a:schemeClr>
                </a:gs>
              </a:gsLst>
            </a:gra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tângulo: Cantos Arredondados 4">
                  <a:extLst>
                    <a:ext uri="{FF2B5EF4-FFF2-40B4-BE49-F238E27FC236}">
                      <a16:creationId xmlns:a16="http://schemas.microsoft.com/office/drawing/2014/main" id="{D10FDD13-D2E5-40DE-B2BE-260084D23FF7}"/>
                    </a:ext>
                  </a:extLst>
                </p:cNvPr>
                <p:cNvSpPr txBox="1"/>
                <p:nvPr/>
              </p:nvSpPr>
              <p:spPr>
                <a:xfrm>
                  <a:off x="108545" y="-18732"/>
                  <a:ext cx="5192606" cy="1117469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spAutoFit/>
                </a:bodyPr>
                <a:lstStyle/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altLang="pt-BR" sz="2000" b="1" dirty="0">
                      <a:solidFill>
                        <a:schemeClr val="bg1"/>
                      </a:solidFill>
                      <a:latin typeface="+mj-lt"/>
                    </a:rPr>
                    <a:t>Variável de Decisão</a:t>
                  </a:r>
                  <a14:m>
                    <m:oMath xmlns:m="http://schemas.openxmlformats.org/officeDocument/2006/math">
                      <m:r>
                        <a:rPr lang="pt-BR" altLang="pt-BR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altLang="pt-BR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pt-BR" altLang="pt-BR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a14:m>
                  <a:r>
                    <a:rPr lang="pt-BR" altLang="pt-BR" sz="2000" b="1" dirty="0">
                      <a:solidFill>
                        <a:schemeClr val="bg1"/>
                      </a:solidFill>
                      <a:latin typeface="+mj-lt"/>
                    </a:rPr>
                    <a:t> ): </a:t>
                  </a:r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Representa a quantidade exata do produto que será transportada de uma origem </a:t>
                  </a:r>
                  <a:r>
                    <a:rPr lang="pt-BR" altLang="pt-BR" sz="3200" dirty="0">
                      <a:solidFill>
                        <a:schemeClr val="bg1"/>
                      </a:solidFill>
                      <a:latin typeface="+mj-lt"/>
                    </a:rPr>
                    <a:t>i</a:t>
                  </a:r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 para um destino </a:t>
                  </a:r>
                  <a:r>
                    <a:rPr lang="pt-BR" altLang="pt-BR" sz="2800" dirty="0">
                      <a:solidFill>
                        <a:schemeClr val="bg1"/>
                      </a:solidFill>
                      <a:latin typeface="+mj-lt"/>
                    </a:rPr>
                    <a:t>j</a:t>
                  </a: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>
                      <a:solidFill>
                        <a:schemeClr val="bg1"/>
                      </a:solidFill>
                      <a:latin typeface="+mj-lt"/>
                    </a:rPr>
                    <a:t>Função Objetivo: </a:t>
                  </a:r>
                  <a:r>
                    <a:rPr lang="pt-BR" sz="2000" dirty="0">
                      <a:solidFill>
                        <a:schemeClr val="bg1"/>
                      </a:solidFill>
                      <a:latin typeface="+mj-lt"/>
                    </a:rPr>
                    <a:t>Busca a minimização dos custos totais de transporte.</a:t>
                  </a:r>
                </a:p>
                <a:p>
                  <a:pPr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orderBox>
                          <m:borderBoxPr>
                            <m:ctrlPr>
                              <a:rPr lang="pt-BR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rderBoxPr>
                          <m:e>
                            <m:r>
                              <a:rPr lang="pt-BR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𝒎𝒊𝒏𝒁</m:t>
                            </m:r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nary>
                              <m:naryPr>
                                <m:chr m:val="∑"/>
                                <m:ctrlP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borderBox>
                      </m:oMath>
                    </m:oMathPara>
                  </a14:m>
                  <a:endParaRPr lang="pt-BR" sz="2000" dirty="0">
                    <a:solidFill>
                      <a:schemeClr val="bg1"/>
                    </a:solidFill>
                    <a:latin typeface="+mj-lt"/>
                  </a:endParaRP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>
                      <a:solidFill>
                        <a:schemeClr val="bg1"/>
                      </a:solidFill>
                      <a:latin typeface="+mj-lt"/>
                    </a:rPr>
                    <a:t>Restrições de Oferta: </a:t>
                  </a:r>
                  <a:r>
                    <a:rPr lang="pt-BR" sz="2000" dirty="0">
                      <a:solidFill>
                        <a:schemeClr val="bg1"/>
                      </a:solidFill>
                      <a:latin typeface="+mj-lt"/>
                    </a:rPr>
                    <a:t>A soma do que sai de uma fábrica não pode ser maior do que a sua capacidade total de produção.</a:t>
                  </a: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>
                      <a:solidFill>
                        <a:schemeClr val="bg1"/>
                      </a:solidFill>
                      <a:latin typeface="+mj-lt"/>
                    </a:rPr>
                    <a:t>Restrições de Demanda: </a:t>
                  </a:r>
                  <a:r>
                    <a:rPr lang="pt-BR" sz="2000" dirty="0">
                      <a:solidFill>
                        <a:schemeClr val="bg1"/>
                      </a:solidFill>
                      <a:latin typeface="+mj-lt"/>
                    </a:rPr>
                    <a:t>A soma do que chega em uma loja deve ser exatamente igual à sua necessidade para não faltar produto.</a:t>
                  </a: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altLang="pt-BR" sz="2000" b="1" dirty="0">
                      <a:solidFill>
                        <a:schemeClr val="bg1"/>
                      </a:solidFill>
                      <a:latin typeface="+mj-lt"/>
                    </a:rPr>
                    <a:t>Não-negatividade:</a:t>
                  </a:r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alt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pt-BR" altLang="pt-BR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0 (matemáticamente, não é possível transportar uma quantidade negativa de caixas).</a:t>
                  </a:r>
                </a:p>
                <a:p>
                  <a:pPr marL="285750" lvl="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/>
                    <a:t>Sujeito a: </a:t>
                  </a:r>
                </a:p>
                <a:p>
                  <a:pPr lvl="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pt-BR" sz="2000" b="1" dirty="0"/>
                    <a:t>    </a:t>
                  </a:r>
                  <a:r>
                    <a:rPr lang="pt-BR" sz="2000" dirty="0"/>
                    <a:t>Oferta: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∑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pt-BR" sz="2000" dirty="0"/>
                    <a:t>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≤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𝑆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pt-BR" sz="2000" dirty="0"/>
                    <a:t> </a:t>
                  </a:r>
                </a:p>
                <a:p>
                  <a:pPr lvl="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pt-BR" sz="2000" dirty="0"/>
                    <a:t>    Demanda: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∑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pt-BR" sz="2000" dirty="0"/>
                    <a:t>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≥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pt-BR" sz="2000" dirty="0"/>
                </a:p>
                <a:p>
                  <a:pPr lvl="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pt-BR" sz="2000" dirty="0"/>
                    <a:t>    Não negatividade: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000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≥ 0</a:t>
                  </a:r>
                  <a:endParaRPr lang="pt-BR" sz="2000" dirty="0"/>
                </a:p>
              </p:txBody>
            </p:sp>
          </mc:Choice>
          <mc:Fallback xmlns="">
            <p:sp>
              <p:nvSpPr>
                <p:cNvPr id="7" name="Retângulo: Cantos Arredondados 4">
                  <a:extLst>
                    <a:ext uri="{FF2B5EF4-FFF2-40B4-BE49-F238E27FC236}">
                      <a16:creationId xmlns:a16="http://schemas.microsoft.com/office/drawing/2014/main" id="{D10FDD13-D2E5-40DE-B2BE-260084D23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45" y="-18732"/>
                  <a:ext cx="5192606" cy="1117469"/>
                </a:xfrm>
                <a:prstGeom prst="rect">
                  <a:avLst/>
                </a:prstGeom>
                <a:blipFill>
                  <a:blip r:embed="rId2"/>
                  <a:stretch>
                    <a:fillRect l="-335" t="-823" b="-11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613A2EF6-DAC2-49A4-BA55-0DEC70E4F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63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6DBEC-7BDC-4F2A-9205-4032636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|Balanceamento do problema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98A54582-57D7-4734-92DB-0C79AE677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614221"/>
              </p:ext>
            </p:extLst>
          </p:nvPr>
        </p:nvGraphicFramePr>
        <p:xfrm>
          <a:off x="1023938" y="1957754"/>
          <a:ext cx="9720262" cy="435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12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Métodos de Solução inicial</a:t>
            </a:r>
          </a:p>
        </p:txBody>
      </p:sp>
      <p:pic>
        <p:nvPicPr>
          <p:cNvPr id="9" name="Espaço Reservado para Imagem 8">
            <a:extLst>
              <a:ext uri="{FF2B5EF4-FFF2-40B4-BE49-F238E27FC236}">
                <a16:creationId xmlns:a16="http://schemas.microsoft.com/office/drawing/2014/main" id="{9E338A43-5C4C-4AF7-8372-A7A96F45B0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47" b="1664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666D5E19-5D79-47DB-BB28-0E0FF60DE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Encontrando a primeira solução</a:t>
            </a:r>
          </a:p>
          <a:p>
            <a:r>
              <a:rPr lang="pt-BR" dirty="0">
                <a:solidFill>
                  <a:schemeClr val="bg1"/>
                </a:solidFill>
              </a:rPr>
              <a:t>Viável (SBI)</a:t>
            </a:r>
          </a:p>
        </p:txBody>
      </p:sp>
    </p:spTree>
    <p:extLst>
      <p:ext uri="{BB962C8B-B14F-4D97-AF65-F5344CB8AC3E}">
        <p14:creationId xmlns:p14="http://schemas.microsoft.com/office/powerpoint/2010/main" val="262169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6DBEC-7BDC-4F2A-9205-4032636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|Estratégias de aproximação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98A54582-57D7-4734-92DB-0C79AE677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648640"/>
              </p:ext>
            </p:extLst>
          </p:nvPr>
        </p:nvGraphicFramePr>
        <p:xfrm>
          <a:off x="1023938" y="1957754"/>
          <a:ext cx="9720262" cy="435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53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|Degenerescência e condição Básica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520C2B20-6AA0-4F36-B770-77CDDA0C942A}"/>
              </a:ext>
            </a:extLst>
          </p:cNvPr>
          <p:cNvSpPr/>
          <p:nvPr/>
        </p:nvSpPr>
        <p:spPr>
          <a:xfrm>
            <a:off x="5994281" y="2289923"/>
            <a:ext cx="4749918" cy="4018801"/>
          </a:xfrm>
          <a:custGeom>
            <a:avLst/>
            <a:gdLst>
              <a:gd name="connsiteX0" fmla="*/ 0 w 4749918"/>
              <a:gd name="connsiteY0" fmla="*/ 0 h 4018801"/>
              <a:gd name="connsiteX1" fmla="*/ 4749918 w 4749918"/>
              <a:gd name="connsiteY1" fmla="*/ 0 h 4018801"/>
              <a:gd name="connsiteX2" fmla="*/ 4749918 w 4749918"/>
              <a:gd name="connsiteY2" fmla="*/ 4018801 h 4018801"/>
              <a:gd name="connsiteX3" fmla="*/ 0 w 4749918"/>
              <a:gd name="connsiteY3" fmla="*/ 4018801 h 4018801"/>
              <a:gd name="connsiteX4" fmla="*/ 0 w 4749918"/>
              <a:gd name="connsiteY4" fmla="*/ 0 h 401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918" h="4018801">
                <a:moveTo>
                  <a:pt x="0" y="0"/>
                </a:moveTo>
                <a:lnTo>
                  <a:pt x="4749918" y="0"/>
                </a:lnTo>
                <a:lnTo>
                  <a:pt x="4749918" y="4018801"/>
                </a:lnTo>
                <a:lnTo>
                  <a:pt x="0" y="401880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40000">
                <a:srgbClr val="002060"/>
              </a:gs>
              <a:gs pos="100000">
                <a:schemeClr val="accent1">
                  <a:hueOff val="0"/>
                  <a:satOff val="0"/>
                  <a:lumOff val="0"/>
                  <a:alphaOff val="0"/>
                  <a:tint val="90000"/>
                  <a:shade val="100000"/>
                  <a:satMod val="150000"/>
                  <a:lumMod val="100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800" b="1" kern="1200" dirty="0"/>
              <a:t>O que isso significa?</a:t>
            </a:r>
          </a:p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200" kern="1200" dirty="0"/>
              <a:t>Para que uma solução seja considerada básica e não degenerada, ela deve conter exatamente o número de origens (m) mais o número de destinos (n) menos 1 célula ocupada.</a:t>
            </a:r>
          </a:p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200" kern="1200" dirty="0"/>
              <a:t>Se houver menos células, o sistema é degenerado e requer a adição de um valor infinitesimal (</a:t>
            </a:r>
            <a:r>
              <a:rPr lang="el-GR" sz="22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pt-BR" sz="22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para prosseguir com a otimização.</a:t>
            </a:r>
            <a:endParaRPr lang="pt-BR" sz="2200" kern="1200" dirty="0"/>
          </a:p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2200" kern="1200" dirty="0"/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D8A3F7F1-FF4B-4A59-8FF8-832D48D098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49422584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71C5879-9DA6-4F49-850F-12854AC1E2C3}"/>
              </a:ext>
            </a:extLst>
          </p:cNvPr>
          <p:cNvSpPr/>
          <p:nvPr/>
        </p:nvSpPr>
        <p:spPr>
          <a:xfrm>
            <a:off x="882536" y="2289924"/>
            <a:ext cx="4749918" cy="4018801"/>
          </a:xfrm>
          <a:custGeom>
            <a:avLst/>
            <a:gdLst>
              <a:gd name="connsiteX0" fmla="*/ 0 w 4749918"/>
              <a:gd name="connsiteY0" fmla="*/ 0 h 4018801"/>
              <a:gd name="connsiteX1" fmla="*/ 4749918 w 4749918"/>
              <a:gd name="connsiteY1" fmla="*/ 0 h 4018801"/>
              <a:gd name="connsiteX2" fmla="*/ 4749918 w 4749918"/>
              <a:gd name="connsiteY2" fmla="*/ 4018801 h 4018801"/>
              <a:gd name="connsiteX3" fmla="*/ 0 w 4749918"/>
              <a:gd name="connsiteY3" fmla="*/ 4018801 h 4018801"/>
              <a:gd name="connsiteX4" fmla="*/ 0 w 4749918"/>
              <a:gd name="connsiteY4" fmla="*/ 0 h 401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918" h="4018801">
                <a:moveTo>
                  <a:pt x="0" y="0"/>
                </a:moveTo>
                <a:lnTo>
                  <a:pt x="4749918" y="0"/>
                </a:lnTo>
                <a:lnTo>
                  <a:pt x="4749918" y="4018801"/>
                </a:lnTo>
                <a:lnTo>
                  <a:pt x="0" y="401880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40000">
                <a:srgbClr val="002060"/>
              </a:gs>
              <a:gs pos="100000">
                <a:schemeClr val="accent1">
                  <a:hueOff val="0"/>
                  <a:satOff val="0"/>
                  <a:lumOff val="0"/>
                  <a:alphaOff val="0"/>
                  <a:tint val="90000"/>
                  <a:shade val="100000"/>
                  <a:satMod val="150000"/>
                  <a:lumMod val="100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9600" kern="1200" dirty="0"/>
              <a:t>m+n-1</a:t>
            </a:r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4000" kern="1200" dirty="0"/>
              <a:t>Células ocupadas</a:t>
            </a:r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2200" kern="1200" dirty="0"/>
          </a:p>
        </p:txBody>
      </p:sp>
    </p:spTree>
    <p:extLst>
      <p:ext uri="{BB962C8B-B14F-4D97-AF65-F5344CB8AC3E}">
        <p14:creationId xmlns:p14="http://schemas.microsoft.com/office/powerpoint/2010/main" val="382627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noProof="1"/>
              <a:t>|Fases de resolução completa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2F91EE18-6F1E-4085-98CC-583225674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552678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171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7858-096D-4617-9FE3-CCD65B6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585216"/>
            <a:ext cx="10692991" cy="1105039"/>
          </a:xfrm>
        </p:spPr>
        <p:txBody>
          <a:bodyPr/>
          <a:lstStyle/>
          <a:p>
            <a:r>
              <a:rPr lang="pt-BR" dirty="0"/>
              <a:t>|Aplicações práticas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D057486-245E-4DE4-AE23-81B99D0F1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443" y="1819373"/>
            <a:ext cx="4236234" cy="445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0D92B351-1094-42ED-845B-6B45522DBD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1431219"/>
              </p:ext>
            </p:extLst>
          </p:nvPr>
        </p:nvGraphicFramePr>
        <p:xfrm>
          <a:off x="824752" y="1690256"/>
          <a:ext cx="6094521" cy="4643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182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74688"/>
            <a:ext cx="12192000" cy="6183312"/>
          </a:xfrm>
        </p:spPr>
        <p:txBody>
          <a:bodyPr>
            <a:normAutofit/>
          </a:bodyPr>
          <a:lstStyle/>
          <a:p>
            <a:pPr algn="ctr"/>
            <a:br>
              <a:rPr lang="pt-BR" sz="8000" dirty="0">
                <a:solidFill>
                  <a:schemeClr val="tx1"/>
                </a:solidFill>
              </a:rPr>
            </a:br>
            <a:endParaRPr lang="pt-BR" sz="8000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034ACF-C039-437E-85BF-AC7A6F9ACD80}"/>
              </a:ext>
            </a:extLst>
          </p:cNvPr>
          <p:cNvSpPr/>
          <p:nvPr/>
        </p:nvSpPr>
        <p:spPr>
          <a:xfrm>
            <a:off x="0" y="1323000"/>
            <a:ext cx="121920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</a:rPr>
              <a:t>“</a:t>
            </a:r>
            <a:r>
              <a:rPr lang="pt-BR" sz="4800" b="1" dirty="0">
                <a:solidFill>
                  <a:schemeClr val="bg1"/>
                </a:solidFill>
              </a:rPr>
              <a:t>A eficiência Logística é o diferencial competitivo da era moderna”</a:t>
            </a:r>
          </a:p>
          <a:p>
            <a:pPr algn="ctr"/>
            <a:endParaRPr lang="pt-BR" sz="6000" dirty="0">
              <a:solidFill>
                <a:schemeClr val="bg1"/>
              </a:solidFill>
            </a:endParaRP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A pesquisa Operacional transforma a complexidade em vantagem estratégica através do rigor matemático</a:t>
            </a:r>
          </a:p>
        </p:txBody>
      </p:sp>
    </p:spTree>
    <p:extLst>
      <p:ext uri="{BB962C8B-B14F-4D97-AF65-F5344CB8AC3E}">
        <p14:creationId xmlns:p14="http://schemas.microsoft.com/office/powerpoint/2010/main" val="12923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74688"/>
            <a:ext cx="12192000" cy="6183312"/>
          </a:xfrm>
        </p:spPr>
        <p:txBody>
          <a:bodyPr>
            <a:normAutofit/>
          </a:bodyPr>
          <a:lstStyle/>
          <a:p>
            <a:pPr algn="ctr"/>
            <a:br>
              <a:rPr lang="pt-BR" sz="8000" dirty="0">
                <a:solidFill>
                  <a:schemeClr val="tx1"/>
                </a:solidFill>
              </a:rPr>
            </a:br>
            <a:endParaRPr lang="pt-BR" sz="8000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034ACF-C039-437E-85BF-AC7A6F9ACD80}"/>
              </a:ext>
            </a:extLst>
          </p:cNvPr>
          <p:cNvSpPr/>
          <p:nvPr/>
        </p:nvSpPr>
        <p:spPr>
          <a:xfrm>
            <a:off x="0" y="674688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</a:rPr>
              <a:t>Duvidas?</a:t>
            </a:r>
          </a:p>
          <a:p>
            <a:pPr algn="ctr"/>
            <a:endParaRPr lang="pt-BR" sz="3600" dirty="0">
              <a:solidFill>
                <a:schemeClr val="bg1"/>
              </a:solidFill>
            </a:endParaRP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Concluímos os conceitos básicos do problema de transporte na PO.</a:t>
            </a:r>
          </a:p>
          <a:p>
            <a:pPr algn="ctr"/>
            <a:br>
              <a:rPr lang="pt-BR" sz="32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Obrigado pela </a:t>
            </a: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atenção !</a:t>
            </a:r>
          </a:p>
          <a:p>
            <a:pPr algn="ctr"/>
            <a:endParaRPr lang="pt-BR" sz="3600" dirty="0">
              <a:solidFill>
                <a:schemeClr val="bg1"/>
              </a:solidFill>
            </a:endParaRP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José Sérgio dos Santos | Anderson Santos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Gestão da produção industrial – 2° Semestre</a:t>
            </a:r>
          </a:p>
        </p:txBody>
      </p:sp>
    </p:spTree>
    <p:extLst>
      <p:ext uri="{BB962C8B-B14F-4D97-AF65-F5344CB8AC3E}">
        <p14:creationId xmlns:p14="http://schemas.microsoft.com/office/powerpoint/2010/main" val="53303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74688"/>
            <a:ext cx="12192000" cy="6183312"/>
          </a:xfrm>
        </p:spPr>
        <p:txBody>
          <a:bodyPr>
            <a:normAutofit/>
          </a:bodyPr>
          <a:lstStyle/>
          <a:p>
            <a:pPr algn="ctr"/>
            <a:br>
              <a:rPr lang="pt-BR" sz="8000" dirty="0">
                <a:solidFill>
                  <a:schemeClr val="tx1"/>
                </a:solidFill>
              </a:rPr>
            </a:br>
            <a:endParaRPr lang="pt-BR" sz="8000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034ACF-C039-437E-85BF-AC7A6F9ACD80}"/>
              </a:ext>
            </a:extLst>
          </p:cNvPr>
          <p:cNvSpPr/>
          <p:nvPr/>
        </p:nvSpPr>
        <p:spPr>
          <a:xfrm>
            <a:off x="0" y="0"/>
            <a:ext cx="12192000" cy="7386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HITCHCOCK, F. L.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distribution of a product from several sources to numerous localities. </a:t>
            </a:r>
            <a:r>
              <a:rPr lang="pt-BR" altLang="pt-BR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Journal of Mathematics and Physics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v. 20, n. 1-4, p. 224-230, 1941. </a:t>
            </a:r>
            <a:r>
              <a:rPr lang="pt-BR" altLang="pt-BR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(Artigo histórico de formulação do problema).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HILLIER, F. S.; LIEBERMAN, G. J.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Introdução à Pesquisa Operacional. 9. ed. São Paulo: AMGH, 2013.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TAHA, H. A.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Pesquisa Operacional: Uma visão geral. 8. ed. São Paulo: Pearson Prentice Hall, 2008.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ARENALES, M. et al.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Pesquisa Operacional. Rio de Janeiro: Elsevier, 2007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http://select.nytimes.com/mem/archive/pdf?res=F50E15FB395A177B93C3A9178DD85F438585F9, Fair use,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https://en.wikipedia.org/w/index.php?curid=32141421</a:t>
            </a: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https://d2yghbees9788u.cloudfront.net/avozdaindustria/2022/11/A-tomada-de-deciso-na-indstria-e-os-mtodos-da-Pesquisa-Operacional.png</a:t>
            </a: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https://www.fm2s.com.br/storage/blog/images/pesquisa-operacional.webp</a:t>
            </a: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https://thumbs.dreamstime.com/b/encomendas-de-conceito-transporte-e-entrega-%C3%A0-escala-mundial-com-renderiza%C3%A7%C3%A3o-n%C3%ADvel-em-torno-d-globo-terrestre-tornando-se-192937465.jpg</a:t>
            </a:r>
            <a:endParaRPr 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https://mactransterminais.com.br/wp-content/uploads/2023/10/Mactrans-Armazem-Geral-Transporte-de-Cargas-e-Logistica-em-Paranagua-mobile-5-min.png</a:t>
            </a:r>
            <a:endParaRPr 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Espaço Reservado para Conteúdo 8">
            <a:extLst>
              <a:ext uri="{FF2B5EF4-FFF2-40B4-BE49-F238E27FC236}">
                <a16:creationId xmlns:a16="http://schemas.microsoft.com/office/drawing/2014/main" id="{5ABF43C9-7573-4BC4-87F6-3128DDAE9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07" y="3070612"/>
            <a:ext cx="422134" cy="2062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8" name="Picture 4" descr="A tomada de decisão na indústria e os métodos da Pesquisa Operacional">
            <a:extLst>
              <a:ext uri="{FF2B5EF4-FFF2-40B4-BE49-F238E27FC236}">
                <a16:creationId xmlns:a16="http://schemas.microsoft.com/office/drawing/2014/main" id="{8FD13B0E-FE7B-4F6A-8CA4-E3901D2CF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2" y="3620808"/>
            <a:ext cx="458029" cy="20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8AD3B8D-A700-41FC-A27E-D4A8AD089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916" y="4061733"/>
            <a:ext cx="443554" cy="25971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4E37069-D54C-484B-A27B-AD564DA3ED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264" y="4490598"/>
            <a:ext cx="375742" cy="2062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Google Shape;98;p14" descr="image.png">
            <a:extLst>
              <a:ext uri="{FF2B5EF4-FFF2-40B4-BE49-F238E27FC236}">
                <a16:creationId xmlns:a16="http://schemas.microsoft.com/office/drawing/2014/main" id="{144FA771-C0C0-4FE5-AAAC-CD50715B107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3389" y="5068492"/>
            <a:ext cx="409615" cy="3030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2525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24708BF-4948-4886-A6B8-1C080C35D3BA}"/>
              </a:ext>
            </a:extLst>
          </p:cNvPr>
          <p:cNvSpPr txBox="1"/>
          <p:nvPr/>
        </p:nvSpPr>
        <p:spPr>
          <a:xfrm>
            <a:off x="0" y="1843950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0" b="1" dirty="0">
                <a:solidFill>
                  <a:schemeClr val="bg1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71229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71af3243-3dd4-4a8d-8c0d-dd76da1f02a5"/>
    <ds:schemaRef ds:uri="http://schemas.microsoft.com/office/2006/documentManagement/types"/>
    <ds:schemaRef ds:uri="http://purl.org/dc/dcmitype/"/>
    <ds:schemaRef ds:uri="http://purl.org/dc/terms/"/>
    <ds:schemaRef ds:uri="16c05727-aa75-4e4a-9b5f-8a80a116589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0</TotalTime>
  <Words>1111</Words>
  <Application>Microsoft Office PowerPoint</Application>
  <PresentationFormat>Widescreen</PresentationFormat>
  <Paragraphs>140</Paragraphs>
  <Slides>17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Lato</vt:lpstr>
      <vt:lpstr>Tw Cen MT</vt:lpstr>
      <vt:lpstr>Tw Cen MT Condensed</vt:lpstr>
      <vt:lpstr>Wingdings</vt:lpstr>
      <vt:lpstr>Wingdings 3</vt:lpstr>
      <vt:lpstr>Integral</vt:lpstr>
      <vt:lpstr>Apresentação do PowerPoint</vt:lpstr>
      <vt:lpstr>  Conceitos, Métodos e Otimização em Pesquisa operacional </vt:lpstr>
      <vt:lpstr>|O Desafio da Eficiência Logística </vt:lpstr>
      <vt:lpstr>|O que é o problema de transporte?</vt:lpstr>
      <vt:lpstr>|contexto histórico </vt:lpstr>
      <vt:lpstr>|Elementos fundamentais</vt:lpstr>
      <vt:lpstr>|O modelo matemático</vt:lpstr>
      <vt:lpstr>|Balanceamento do problema</vt:lpstr>
      <vt:lpstr>Métodos de Solução inicial</vt:lpstr>
      <vt:lpstr>|Estratégias de aproximação</vt:lpstr>
      <vt:lpstr>|Degenerescência e condição Básica</vt:lpstr>
      <vt:lpstr>|Fases de resolução completa</vt:lpstr>
      <vt:lpstr>|Aplicações práticas</vt:lpstr>
      <vt:lpstr> </vt:lpstr>
      <vt:lpstr> </vt:lpstr>
      <vt:lpstr>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2026-06-15T22:17:59Z</dcterms:created>
  <dcterms:modified xsi:type="dcterms:W3CDTF">2026-07-02T23:42:36Z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